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Muli Ultra-Bold" charset="1" panose="00000900000000000000"/>
      <p:regular r:id="rId16"/>
    </p:embeddedFont>
    <p:embeddedFont>
      <p:font typeface="Muli Bold" charset="1" panose="00000800000000000000"/>
      <p:regular r:id="rId17"/>
    </p:embeddedFont>
    <p:embeddedFont>
      <p:font typeface="Muli"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notesSlides/notesSlide2.xml" Type="http://schemas.openxmlformats.org/officeDocument/2006/relationships/notesSlide"/><Relationship Id="rId23" Target="notesSlides/notesSlide3.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tiếp nối phần trình bày của bạn [Tên bạn trước], em là [Tên của bạn]. Sau đây em xin phép tiếp tục trình bày về các chức năng quản lý, trải nghiệm người dùng và phần tổng kết đồ án của nhóm em.</a:t>
            </a:r>
          </a:p>
          <a:p>
            <a:r>
              <a:rPr lang="en-US"/>
              <a:t/>
            </a:r>
          </a:p>
          <a:p>
            <a:r>
              <a:rPr lang="en-US"/>
              <a:t>Ở phần này nhóm em tập trung vào hai chức năng là Báo cáo vi phạm và Thống kê.</a:t>
            </a:r>
          </a:p>
          <a:p>
            <a:r>
              <a:rPr lang="en-US"/>
              <a:t/>
            </a:r>
          </a:p>
          <a:p>
            <a:r>
              <a:rPr lang="en-US"/>
              <a:t>Với Báo cáo vi phạm, người dùng có thể báo cáo những tin đăng có dấu hiệu lừa đảo hoặc sai sự thật, kèm theo lý do cụ thể.</a:t>
            </a:r>
          </a:p>
          <a:p>
            <a:r>
              <a:rPr lang="en-US"/>
              <a:t/>
            </a:r>
          </a:p>
          <a:p>
            <a:r>
              <a:rPr lang="en-US"/>
              <a:t>Hệ thống có cơ chế chống spam, không cho phép một người dùng gửi trùng báo cáo cho cùng một tin đăng.</a:t>
            </a:r>
          </a:p>
          <a:p>
            <a:r>
              <a:rPr lang="en-US"/>
              <a:t/>
            </a:r>
          </a:p>
          <a:p>
            <a:r>
              <a:rPr lang="en-US"/>
              <a:t>Sau đó, Admin sẽ kiểm tra và xử lý: nếu tin thực sự vi phạm thì chấp thuận báo cáo và khóa tin; nếu không vi phạm thì từ chối báo cáo và tin vẫn được hiển thị.</a:t>
            </a:r>
          </a:p>
          <a:p>
            <a:r>
              <a:rPr lang="en-US"/>
              <a:t/>
            </a:r>
          </a:p>
          <a:p>
            <a:r>
              <a:rPr lang="en-US"/>
              <a:t>Bên cạnh đó, nhóm em xây dựng Dashboard Thống kê dành cho Admin, hiển thị các số liệu tổng quan và biểu đồ về giá thuê theo khu vực và loại hình, giúp Admin dễ theo dõi dữ liệu trên hệ thống.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Sang phần tiếp theo, nhóm em bổ sung chức năng Yêu thích và Tin tức thị trường để cải thiện trải nghiệm người dùng.</a:t>
            </a:r>
          </a:p>
          <a:p>
            <a:r>
              <a:rPr lang="en-US"/>
              <a:t/>
            </a:r>
          </a:p>
          <a:p>
            <a:r>
              <a:rPr lang="en-US"/>
              <a:t>Với Yêu thích, người dùng có thể lưu lại những căn nhà mình quan tâm. Những tin đã bị Admin khóa hoặc người đăng xóa sẽ tự động được ẩn khỏi danh sách yêu thích, giúp dữ liệu luôn được cập nhật.</a:t>
            </a:r>
          </a:p>
          <a:p>
            <a:r>
              <a:rPr lang="en-US"/>
              <a:t/>
            </a:r>
          </a:p>
          <a:p>
            <a:r>
              <a:rPr lang="en-US"/>
              <a:t>Ngoài ra, nhóm em xây dựng module Tin tức thị trường, cho phép Admin tự soạn và đăng bài viết bằng Rich-text editor.</a:t>
            </a:r>
          </a:p>
          <a:p>
            <a:r>
              <a:rPr lang="en-US"/>
              <a:t/>
            </a:r>
          </a:p>
          <a:p>
            <a:r>
              <a:rPr lang="en-US"/>
              <a:t>Về bảo mật, nhóm em sử dụng thư viện nh3 để lọc các mã HTML không an toàn, giúp hạn chế nguy cơ tấn công XSS.</a:t>
            </a:r>
          </a:p>
          <a:p>
            <a:r>
              <a:rPr lang="en-US"/>
              <a:t/>
            </a:r>
          </a:p>
          <a:p>
            <a:r>
              <a:rPr lang="en-US"/>
              <a:t>Các bài viết sau khi xuất bản có thể được tất cả khách truy cập đọc mà không cần đăng nhập.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Cuối cùng, nhóm em xin tổng kết một số kết quả chính.</a:t>
            </a:r>
          </a:p>
          <a:p>
            <a:r>
              <a:rPr lang="en-US"/>
              <a:t/>
            </a:r>
          </a:p>
          <a:p>
            <a:r>
              <a:rPr lang="en-US"/>
              <a:t>Thứ nhất về kiến trúc: nhóm xây dựng mô hình Client – Server, với Frontend là Next.js 16, Backend là FastAPI, và được đóng gói bằng Docker Compose để thuận tiện triển khai.</a:t>
            </a:r>
          </a:p>
          <a:p>
            <a:r>
              <a:rPr lang="en-US"/>
              <a:t/>
            </a:r>
          </a:p>
          <a:p>
            <a:r>
              <a:rPr lang="en-US"/>
              <a:t>Thứ hai về kỹ thuật: nhóm đã triển khai 9 module Backend chính, sử dụng Alembic để quản lý version Database và tích hợp MinIO chuẩn S3 để lưu trữ hình ảnh, tách biệt với server chạy code.</a:t>
            </a:r>
          </a:p>
          <a:p>
            <a:r>
              <a:rPr lang="en-US"/>
              <a:t/>
            </a:r>
          </a:p>
          <a:p>
            <a:r>
              <a:rPr lang="en-US"/>
              <a:t>Cuối cùng về logic: nhóm đã xử lý các bài toán như bản nháp/bản chờ duyệt khi người dùng chỉnh sửa tin và đồng bộ dữ liệu địa giới hành chính khi có thay đổi, sáp nhập.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CFE"/>
        </a:solidFill>
      </p:bgPr>
    </p:bg>
    <p:spTree>
      <p:nvGrpSpPr>
        <p:cNvPr id="1" name=""/>
        <p:cNvGrpSpPr/>
        <p:nvPr/>
      </p:nvGrpSpPr>
      <p:grpSpPr>
        <a:xfrm>
          <a:off x="0" y="0"/>
          <a:ext cx="0" cy="0"/>
          <a:chOff x="0" y="0"/>
          <a:chExt cx="0" cy="0"/>
        </a:xfrm>
      </p:grpSpPr>
      <p:sp>
        <p:nvSpPr>
          <p:cNvPr name="Freeform 2" id="2"/>
          <p:cNvSpPr/>
          <p:nvPr/>
        </p:nvSpPr>
        <p:spPr>
          <a:xfrm flipH="false" flipV="false" rot="0">
            <a:off x="-207175" y="6941125"/>
            <a:ext cx="7590520" cy="3345875"/>
          </a:xfrm>
          <a:custGeom>
            <a:avLst/>
            <a:gdLst/>
            <a:ahLst/>
            <a:cxnLst/>
            <a:rect r="r" b="b" t="t" l="l"/>
            <a:pathLst>
              <a:path h="3345875" w="7590520">
                <a:moveTo>
                  <a:pt x="0" y="0"/>
                </a:moveTo>
                <a:lnTo>
                  <a:pt x="7590520" y="0"/>
                </a:lnTo>
                <a:lnTo>
                  <a:pt x="7590520" y="3345875"/>
                </a:lnTo>
                <a:lnTo>
                  <a:pt x="0" y="33458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0697480" y="0"/>
            <a:ext cx="7590520" cy="3345875"/>
          </a:xfrm>
          <a:custGeom>
            <a:avLst/>
            <a:gdLst/>
            <a:ahLst/>
            <a:cxnLst/>
            <a:rect r="r" b="b" t="t" l="l"/>
            <a:pathLst>
              <a:path h="3345875" w="7590520">
                <a:moveTo>
                  <a:pt x="7590520" y="3345875"/>
                </a:moveTo>
                <a:lnTo>
                  <a:pt x="0" y="3345875"/>
                </a:lnTo>
                <a:lnTo>
                  <a:pt x="0" y="0"/>
                </a:lnTo>
                <a:lnTo>
                  <a:pt x="7590520" y="0"/>
                </a:lnTo>
                <a:lnTo>
                  <a:pt x="7590520" y="3345875"/>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7414507" y="-6721593"/>
            <a:ext cx="14081576" cy="14328946"/>
            <a:chOff x="0" y="0"/>
            <a:chExt cx="18775435" cy="19105262"/>
          </a:xfrm>
        </p:grpSpPr>
        <p:grpSp>
          <p:nvGrpSpPr>
            <p:cNvPr name="Group 5" id="5"/>
            <p:cNvGrpSpPr/>
            <p:nvPr/>
          </p:nvGrpSpPr>
          <p:grpSpPr>
            <a:xfrm rot="-4029521">
              <a:off x="-439874" y="6301441"/>
              <a:ext cx="15736054" cy="8000082"/>
              <a:chOff x="0" y="0"/>
              <a:chExt cx="2428403" cy="1234580"/>
            </a:xfrm>
          </p:grpSpPr>
          <p:sp>
            <p:nvSpPr>
              <p:cNvPr name="Freeform 6" id="6"/>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7" id="7"/>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90957">
              <a:off x="2037272" y="8866899"/>
              <a:ext cx="16242519" cy="1219946"/>
              <a:chOff x="0" y="0"/>
              <a:chExt cx="2061456" cy="154832"/>
            </a:xfrm>
          </p:grpSpPr>
          <p:sp>
            <p:nvSpPr>
              <p:cNvPr name="Freeform 9" id="9"/>
              <p:cNvSpPr/>
              <p:nvPr/>
            </p:nvSpPr>
            <p:spPr>
              <a:xfrm flipH="false" flipV="false" rot="0">
                <a:off x="0" y="0"/>
                <a:ext cx="2061456" cy="154832"/>
              </a:xfrm>
              <a:custGeom>
                <a:avLst/>
                <a:gdLst/>
                <a:ahLst/>
                <a:cxnLst/>
                <a:rect r="r" b="b" t="t" l="l"/>
                <a:pathLst>
                  <a:path h="154832" w="2061456">
                    <a:moveTo>
                      <a:pt x="230188" y="0"/>
                    </a:moveTo>
                    <a:lnTo>
                      <a:pt x="2061456" y="0"/>
                    </a:lnTo>
                    <a:lnTo>
                      <a:pt x="1831268" y="154832"/>
                    </a:lnTo>
                    <a:lnTo>
                      <a:pt x="0" y="154832"/>
                    </a:lnTo>
                    <a:lnTo>
                      <a:pt x="230188" y="0"/>
                    </a:lnTo>
                    <a:close/>
                  </a:path>
                </a:pathLst>
              </a:custGeom>
              <a:solidFill>
                <a:srgbClr val="3199CE">
                  <a:alpha val="43922"/>
                </a:srgbClr>
              </a:solidFill>
            </p:spPr>
          </p:sp>
          <p:sp>
            <p:nvSpPr>
              <p:cNvPr name="TextBox 10" id="10"/>
              <p:cNvSpPr txBox="true"/>
              <p:nvPr/>
            </p:nvSpPr>
            <p:spPr>
              <a:xfrm>
                <a:off x="254000" y="-38100"/>
                <a:ext cx="1553456" cy="192932"/>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2875618">
              <a:off x="627890" y="4520664"/>
              <a:ext cx="15736054" cy="8000082"/>
              <a:chOff x="0" y="0"/>
              <a:chExt cx="2428403" cy="1234580"/>
            </a:xfrm>
          </p:grpSpPr>
          <p:sp>
            <p:nvSpPr>
              <p:cNvPr name="Freeform 12" id="12"/>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2941"/>
                </a:srgbClr>
              </a:solidFill>
            </p:spPr>
          </p:sp>
          <p:sp>
            <p:nvSpPr>
              <p:cNvPr name="TextBox 13" id="13"/>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3737466">
              <a:off x="-27669" y="5476831"/>
              <a:ext cx="15736054" cy="8000082"/>
              <a:chOff x="0" y="0"/>
              <a:chExt cx="2428403" cy="1234580"/>
            </a:xfrm>
          </p:grpSpPr>
          <p:sp>
            <p:nvSpPr>
              <p:cNvPr name="Freeform 15" id="15"/>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name="TextBox 16" id="16"/>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1639264">
              <a:off x="1598798" y="3816229"/>
              <a:ext cx="15736054" cy="8000082"/>
              <a:chOff x="0" y="0"/>
              <a:chExt cx="2428403" cy="1234580"/>
            </a:xfrm>
          </p:grpSpPr>
          <p:sp>
            <p:nvSpPr>
              <p:cNvPr name="Freeform 18" id="18"/>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19" id="19"/>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673135">
              <a:off x="610517" y="2497408"/>
              <a:ext cx="17554400" cy="8000082"/>
              <a:chOff x="0" y="0"/>
              <a:chExt cx="2709012" cy="1234580"/>
            </a:xfrm>
          </p:grpSpPr>
          <p:sp>
            <p:nvSpPr>
              <p:cNvPr name="Freeform 21" id="21"/>
              <p:cNvSpPr/>
              <p:nvPr/>
            </p:nvSpPr>
            <p:spPr>
              <a:xfrm flipH="false" flipV="false" rot="0">
                <a:off x="0" y="0"/>
                <a:ext cx="2709012" cy="1234580"/>
              </a:xfrm>
              <a:custGeom>
                <a:avLst/>
                <a:gdLst/>
                <a:ahLst/>
                <a:cxnLst/>
                <a:rect r="r" b="b" t="t" l="l"/>
                <a:pathLst>
                  <a:path h="1234580" w="2709012">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1765"/>
                </a:srgbClr>
              </a:solidFill>
            </p:spPr>
          </p:sp>
          <p:sp>
            <p:nvSpPr>
              <p:cNvPr name="TextBox 22" id="22"/>
              <p:cNvSpPr txBox="true"/>
              <p:nvPr/>
            </p:nvSpPr>
            <p:spPr>
              <a:xfrm>
                <a:off x="0" y="-38100"/>
                <a:ext cx="2709012" cy="1272680"/>
              </a:xfrm>
              <a:prstGeom prst="rect">
                <a:avLst/>
              </a:prstGeom>
            </p:spPr>
            <p:txBody>
              <a:bodyPr anchor="ctr" rtlCol="false" tIns="50800" lIns="50800" bIns="50800" rIns="50800"/>
              <a:lstStyle/>
              <a:p>
                <a:pPr algn="ctr">
                  <a:lnSpc>
                    <a:spcPts val="2659"/>
                  </a:lnSpc>
                </a:pPr>
              </a:p>
            </p:txBody>
          </p:sp>
        </p:grpSp>
      </p:grpSp>
      <p:grpSp>
        <p:nvGrpSpPr>
          <p:cNvPr name="Group 23" id="23"/>
          <p:cNvGrpSpPr/>
          <p:nvPr/>
        </p:nvGrpSpPr>
        <p:grpSpPr>
          <a:xfrm rot="0">
            <a:off x="11620932" y="2679647"/>
            <a:ext cx="14081576" cy="14328946"/>
            <a:chOff x="0" y="0"/>
            <a:chExt cx="18775435" cy="19105262"/>
          </a:xfrm>
        </p:grpSpPr>
        <p:grpSp>
          <p:nvGrpSpPr>
            <p:cNvPr name="Group 24" id="24"/>
            <p:cNvGrpSpPr/>
            <p:nvPr/>
          </p:nvGrpSpPr>
          <p:grpSpPr>
            <a:xfrm rot="6770478">
              <a:off x="3479254" y="4803740"/>
              <a:ext cx="15736054" cy="8000082"/>
              <a:chOff x="0" y="0"/>
              <a:chExt cx="2428403" cy="1234580"/>
            </a:xfrm>
          </p:grpSpPr>
          <p:sp>
            <p:nvSpPr>
              <p:cNvPr name="Freeform 25" id="25"/>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26" id="26"/>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10709042">
              <a:off x="495643" y="9018417"/>
              <a:ext cx="16242519" cy="1219946"/>
              <a:chOff x="0" y="0"/>
              <a:chExt cx="2061456" cy="154832"/>
            </a:xfrm>
          </p:grpSpPr>
          <p:sp>
            <p:nvSpPr>
              <p:cNvPr name="Freeform 28" id="28"/>
              <p:cNvSpPr/>
              <p:nvPr/>
            </p:nvSpPr>
            <p:spPr>
              <a:xfrm flipH="false" flipV="false" rot="0">
                <a:off x="0" y="0"/>
                <a:ext cx="2061456" cy="154832"/>
              </a:xfrm>
              <a:custGeom>
                <a:avLst/>
                <a:gdLst/>
                <a:ahLst/>
                <a:cxnLst/>
                <a:rect r="r" b="b" t="t" l="l"/>
                <a:pathLst>
                  <a:path h="154832" w="2061456">
                    <a:moveTo>
                      <a:pt x="230188" y="0"/>
                    </a:moveTo>
                    <a:lnTo>
                      <a:pt x="2061456" y="0"/>
                    </a:lnTo>
                    <a:lnTo>
                      <a:pt x="1831268" y="154832"/>
                    </a:lnTo>
                    <a:lnTo>
                      <a:pt x="0" y="154832"/>
                    </a:lnTo>
                    <a:lnTo>
                      <a:pt x="230188" y="0"/>
                    </a:lnTo>
                    <a:close/>
                  </a:path>
                </a:pathLst>
              </a:custGeom>
              <a:solidFill>
                <a:srgbClr val="3199CE">
                  <a:alpha val="43922"/>
                </a:srgbClr>
              </a:solidFill>
            </p:spPr>
          </p:sp>
          <p:sp>
            <p:nvSpPr>
              <p:cNvPr name="TextBox 29" id="29"/>
              <p:cNvSpPr txBox="true"/>
              <p:nvPr/>
            </p:nvSpPr>
            <p:spPr>
              <a:xfrm>
                <a:off x="254000" y="-38100"/>
                <a:ext cx="1553456" cy="192932"/>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7924381">
              <a:off x="2411490" y="6584516"/>
              <a:ext cx="15736054" cy="8000082"/>
              <a:chOff x="0" y="0"/>
              <a:chExt cx="2428403" cy="1234580"/>
            </a:xfrm>
          </p:grpSpPr>
          <p:sp>
            <p:nvSpPr>
              <p:cNvPr name="Freeform 31" id="31"/>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2941"/>
                </a:srgbClr>
              </a:solidFill>
            </p:spPr>
          </p:sp>
          <p:sp>
            <p:nvSpPr>
              <p:cNvPr name="TextBox 32" id="32"/>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7062533">
              <a:off x="3067050" y="5628349"/>
              <a:ext cx="15736054" cy="8000082"/>
              <a:chOff x="0" y="0"/>
              <a:chExt cx="2428403" cy="1234580"/>
            </a:xfrm>
          </p:grpSpPr>
          <p:sp>
            <p:nvSpPr>
              <p:cNvPr name="Freeform 34" id="34"/>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name="TextBox 35" id="35"/>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9160735">
              <a:off x="1440582" y="7288951"/>
              <a:ext cx="15736054" cy="8000082"/>
              <a:chOff x="0" y="0"/>
              <a:chExt cx="2428403" cy="1234580"/>
            </a:xfrm>
          </p:grpSpPr>
          <p:sp>
            <p:nvSpPr>
              <p:cNvPr name="Freeform 37" id="37"/>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38" id="38"/>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10126864">
              <a:off x="610517" y="8607772"/>
              <a:ext cx="17554400" cy="8000082"/>
              <a:chOff x="0" y="0"/>
              <a:chExt cx="2709012" cy="1234580"/>
            </a:xfrm>
          </p:grpSpPr>
          <p:sp>
            <p:nvSpPr>
              <p:cNvPr name="Freeform 40" id="40"/>
              <p:cNvSpPr/>
              <p:nvPr/>
            </p:nvSpPr>
            <p:spPr>
              <a:xfrm flipH="false" flipV="false" rot="0">
                <a:off x="0" y="0"/>
                <a:ext cx="2709012" cy="1234580"/>
              </a:xfrm>
              <a:custGeom>
                <a:avLst/>
                <a:gdLst/>
                <a:ahLst/>
                <a:cxnLst/>
                <a:rect r="r" b="b" t="t" l="l"/>
                <a:pathLst>
                  <a:path h="1234580" w="2709012">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1765"/>
                </a:srgbClr>
              </a:solidFill>
            </p:spPr>
          </p:sp>
          <p:sp>
            <p:nvSpPr>
              <p:cNvPr name="TextBox 41" id="41"/>
              <p:cNvSpPr txBox="true"/>
              <p:nvPr/>
            </p:nvSpPr>
            <p:spPr>
              <a:xfrm>
                <a:off x="0" y="-38100"/>
                <a:ext cx="2709012" cy="1272680"/>
              </a:xfrm>
              <a:prstGeom prst="rect">
                <a:avLst/>
              </a:prstGeom>
            </p:spPr>
            <p:txBody>
              <a:bodyPr anchor="ctr" rtlCol="false" tIns="50800" lIns="50800" bIns="50800" rIns="50800"/>
              <a:lstStyle/>
              <a:p>
                <a:pPr algn="ctr">
                  <a:lnSpc>
                    <a:spcPts val="2659"/>
                  </a:lnSpc>
                </a:pPr>
              </a:p>
            </p:txBody>
          </p:sp>
        </p:grpSp>
      </p:grpSp>
      <p:sp>
        <p:nvSpPr>
          <p:cNvPr name="TextBox 42" id="42"/>
          <p:cNvSpPr txBox="true"/>
          <p:nvPr/>
        </p:nvSpPr>
        <p:spPr>
          <a:xfrm rot="0">
            <a:off x="1984843" y="2941409"/>
            <a:ext cx="14318314" cy="1384935"/>
          </a:xfrm>
          <a:prstGeom prst="rect">
            <a:avLst/>
          </a:prstGeom>
        </p:spPr>
        <p:txBody>
          <a:bodyPr anchor="t" rtlCol="false" tIns="0" lIns="0" bIns="0" rIns="0">
            <a:spAutoFit/>
          </a:bodyPr>
          <a:lstStyle/>
          <a:p>
            <a:pPr algn="ctr">
              <a:lnSpc>
                <a:spcPts val="11340"/>
              </a:lnSpc>
            </a:pPr>
            <a:r>
              <a:rPr lang="en-US" b="true" sz="8100">
                <a:solidFill>
                  <a:srgbClr val="113E7A"/>
                </a:solidFill>
                <a:latin typeface="Muli Ultra-Bold"/>
                <a:ea typeface="Muli Ultra-Bold"/>
                <a:cs typeface="Muli Ultra-Bold"/>
                <a:sym typeface="Muli Ultra-Bold"/>
              </a:rPr>
              <a:t>URBAN LEASE</a:t>
            </a:r>
          </a:p>
        </p:txBody>
      </p:sp>
      <p:sp>
        <p:nvSpPr>
          <p:cNvPr name="TextBox 43" id="43"/>
          <p:cNvSpPr txBox="true"/>
          <p:nvPr/>
        </p:nvSpPr>
        <p:spPr>
          <a:xfrm rot="0">
            <a:off x="3224139" y="5885755"/>
            <a:ext cx="4981722" cy="1842135"/>
          </a:xfrm>
          <a:prstGeom prst="rect">
            <a:avLst/>
          </a:prstGeom>
        </p:spPr>
        <p:txBody>
          <a:bodyPr anchor="t" rtlCol="false" tIns="0" lIns="0" bIns="0" rIns="0">
            <a:spAutoFit/>
          </a:bodyPr>
          <a:lstStyle/>
          <a:p>
            <a:pPr algn="l">
              <a:lnSpc>
                <a:spcPts val="2940"/>
              </a:lnSpc>
            </a:pPr>
            <a:r>
              <a:rPr lang="en-US" sz="2100" b="true">
                <a:solidFill>
                  <a:srgbClr val="0D2648"/>
                </a:solidFill>
                <a:latin typeface="Muli Bold"/>
                <a:ea typeface="Muli Bold"/>
                <a:cs typeface="Muli Bold"/>
                <a:sym typeface="Muli Bold"/>
              </a:rPr>
              <a:t>Nhóm sinh viên thực hiện: nhóm 10</a:t>
            </a:r>
          </a:p>
          <a:p>
            <a:pPr algn="l">
              <a:lnSpc>
                <a:spcPts val="2940"/>
              </a:lnSpc>
            </a:pPr>
            <a:r>
              <a:rPr lang="en-US" sz="2100">
                <a:solidFill>
                  <a:srgbClr val="0D2648"/>
                </a:solidFill>
                <a:latin typeface="Muli"/>
                <a:ea typeface="Muli"/>
                <a:cs typeface="Muli"/>
                <a:sym typeface="Muli"/>
              </a:rPr>
              <a:t>Tô Minh Hải - 25410197</a:t>
            </a:r>
          </a:p>
          <a:p>
            <a:pPr algn="l">
              <a:lnSpc>
                <a:spcPts val="2940"/>
              </a:lnSpc>
            </a:pPr>
            <a:r>
              <a:rPr lang="en-US" sz="2100">
                <a:solidFill>
                  <a:srgbClr val="0D2648"/>
                </a:solidFill>
                <a:latin typeface="Muli"/>
                <a:ea typeface="Muli"/>
                <a:cs typeface="Muli"/>
                <a:sym typeface="Muli"/>
              </a:rPr>
              <a:t>Nguyễn Minh Anh - 25410173</a:t>
            </a:r>
          </a:p>
          <a:p>
            <a:pPr algn="l">
              <a:lnSpc>
                <a:spcPts val="2940"/>
              </a:lnSpc>
            </a:pPr>
            <a:r>
              <a:rPr lang="en-US" sz="2100">
                <a:solidFill>
                  <a:srgbClr val="0D2648"/>
                </a:solidFill>
                <a:latin typeface="Muli"/>
                <a:ea typeface="Muli"/>
                <a:cs typeface="Muli"/>
                <a:sym typeface="Muli"/>
              </a:rPr>
              <a:t>Nguyễn Hoài Tiến - 25410316</a:t>
            </a:r>
          </a:p>
          <a:p>
            <a:pPr algn="l">
              <a:lnSpc>
                <a:spcPts val="2940"/>
              </a:lnSpc>
            </a:pPr>
            <a:r>
              <a:rPr lang="en-US" sz="2100">
                <a:solidFill>
                  <a:srgbClr val="0D2648"/>
                </a:solidFill>
                <a:latin typeface="Muli"/>
                <a:ea typeface="Muli"/>
                <a:cs typeface="Muli"/>
                <a:sym typeface="Muli"/>
              </a:rPr>
              <a:t>Trần Thị Phương Trinh - 25410323</a:t>
            </a:r>
          </a:p>
        </p:txBody>
      </p:sp>
      <p:sp>
        <p:nvSpPr>
          <p:cNvPr name="TextBox 44" id="44"/>
          <p:cNvSpPr txBox="true"/>
          <p:nvPr/>
        </p:nvSpPr>
        <p:spPr>
          <a:xfrm rot="0">
            <a:off x="1984843" y="2032724"/>
            <a:ext cx="14318314" cy="514343"/>
          </a:xfrm>
          <a:prstGeom prst="rect">
            <a:avLst/>
          </a:prstGeom>
        </p:spPr>
        <p:txBody>
          <a:bodyPr anchor="t" rtlCol="false" tIns="0" lIns="0" bIns="0" rIns="0">
            <a:spAutoFit/>
          </a:bodyPr>
          <a:lstStyle/>
          <a:p>
            <a:pPr algn="ctr">
              <a:lnSpc>
                <a:spcPts val="4200"/>
              </a:lnSpc>
            </a:pPr>
            <a:r>
              <a:rPr lang="en-US" b="true" sz="3000">
                <a:solidFill>
                  <a:srgbClr val="113E7A"/>
                </a:solidFill>
                <a:latin typeface="Muli Ultra-Bold"/>
                <a:ea typeface="Muli Ultra-Bold"/>
                <a:cs typeface="Muli Ultra-Bold"/>
                <a:sym typeface="Muli Ultra-Bold"/>
              </a:rPr>
              <a:t>BÁO CÁO ĐỒ ÁN MÔN HỌC · KỸ THUẬT LẬP TRÌNH PYTHON</a:t>
            </a:r>
          </a:p>
        </p:txBody>
      </p:sp>
      <p:sp>
        <p:nvSpPr>
          <p:cNvPr name="TextBox 45" id="45"/>
          <p:cNvSpPr txBox="true"/>
          <p:nvPr/>
        </p:nvSpPr>
        <p:spPr>
          <a:xfrm rot="0">
            <a:off x="3224139" y="7937440"/>
            <a:ext cx="5815803" cy="356235"/>
          </a:xfrm>
          <a:prstGeom prst="rect">
            <a:avLst/>
          </a:prstGeom>
        </p:spPr>
        <p:txBody>
          <a:bodyPr anchor="t" rtlCol="false" tIns="0" lIns="0" bIns="0" rIns="0">
            <a:spAutoFit/>
          </a:bodyPr>
          <a:lstStyle/>
          <a:p>
            <a:pPr algn="l">
              <a:lnSpc>
                <a:spcPts val="2940"/>
              </a:lnSpc>
            </a:pPr>
            <a:r>
              <a:rPr lang="en-US" sz="2100" b="true">
                <a:solidFill>
                  <a:srgbClr val="0D2648"/>
                </a:solidFill>
                <a:latin typeface="Muli Bold"/>
                <a:ea typeface="Muli Bold"/>
                <a:cs typeface="Muli Bold"/>
                <a:sym typeface="Muli Bold"/>
              </a:rPr>
              <a:t>Giảng viên phụ trách: </a:t>
            </a:r>
            <a:r>
              <a:rPr lang="en-US" sz="2100">
                <a:solidFill>
                  <a:srgbClr val="0D2648"/>
                </a:solidFill>
                <a:latin typeface="Muli"/>
                <a:ea typeface="Muli"/>
                <a:cs typeface="Muli"/>
                <a:sym typeface="Muli"/>
              </a:rPr>
              <a:t>Th.S Nghi Hoàng Khoa</a:t>
            </a:r>
          </a:p>
        </p:txBody>
      </p:sp>
      <p:sp>
        <p:nvSpPr>
          <p:cNvPr name="TextBox 46" id="46"/>
          <p:cNvSpPr txBox="true"/>
          <p:nvPr/>
        </p:nvSpPr>
        <p:spPr>
          <a:xfrm rot="0">
            <a:off x="6351943" y="4537755"/>
            <a:ext cx="5584113" cy="372745"/>
          </a:xfrm>
          <a:prstGeom prst="rect">
            <a:avLst/>
          </a:prstGeom>
        </p:spPr>
        <p:txBody>
          <a:bodyPr anchor="t" rtlCol="false" tIns="0" lIns="0" bIns="0" rIns="0">
            <a:spAutoFit/>
          </a:bodyPr>
          <a:lstStyle/>
          <a:p>
            <a:pPr algn="l">
              <a:lnSpc>
                <a:spcPts val="3080"/>
              </a:lnSpc>
            </a:pPr>
            <a:r>
              <a:rPr lang="en-US" sz="2200">
                <a:solidFill>
                  <a:srgbClr val="0D2648"/>
                </a:solidFill>
                <a:latin typeface="Muli"/>
                <a:ea typeface="Muli"/>
                <a:cs typeface="Muli"/>
                <a:sym typeface="Muli"/>
              </a:rPr>
              <a:t>Website đăng tin và tìm kiếm nhà cho thuê</a:t>
            </a:r>
          </a:p>
        </p:txBody>
      </p:sp>
      <p:sp>
        <p:nvSpPr>
          <p:cNvPr name="Freeform 47" id="47"/>
          <p:cNvSpPr/>
          <p:nvPr/>
        </p:nvSpPr>
        <p:spPr>
          <a:xfrm flipH="false" flipV="false" rot="0">
            <a:off x="219949" y="178077"/>
            <a:ext cx="4277072" cy="1206977"/>
          </a:xfrm>
          <a:custGeom>
            <a:avLst/>
            <a:gdLst/>
            <a:ahLst/>
            <a:cxnLst/>
            <a:rect r="r" b="b" t="t" l="l"/>
            <a:pathLst>
              <a:path h="1206977" w="4277072">
                <a:moveTo>
                  <a:pt x="0" y="0"/>
                </a:moveTo>
                <a:lnTo>
                  <a:pt x="4277072" y="0"/>
                </a:lnTo>
                <a:lnTo>
                  <a:pt x="4277072" y="1206976"/>
                </a:lnTo>
                <a:lnTo>
                  <a:pt x="0" y="1206976"/>
                </a:lnTo>
                <a:lnTo>
                  <a:pt x="0" y="0"/>
                </a:lnTo>
                <a:close/>
              </a:path>
            </a:pathLst>
          </a:custGeom>
          <a:blipFill>
            <a:blip r:embed="rId4"/>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CFE"/>
        </a:solidFill>
      </p:bgPr>
    </p:bg>
    <p:spTree>
      <p:nvGrpSpPr>
        <p:cNvPr id="1" name=""/>
        <p:cNvGrpSpPr/>
        <p:nvPr/>
      </p:nvGrpSpPr>
      <p:grpSpPr>
        <a:xfrm>
          <a:off x="0" y="0"/>
          <a:ext cx="0" cy="0"/>
          <a:chOff x="0" y="0"/>
          <a:chExt cx="0" cy="0"/>
        </a:xfrm>
      </p:grpSpPr>
      <p:grpSp>
        <p:nvGrpSpPr>
          <p:cNvPr name="Group 2" id="2"/>
          <p:cNvGrpSpPr/>
          <p:nvPr/>
        </p:nvGrpSpPr>
        <p:grpSpPr>
          <a:xfrm rot="0">
            <a:off x="-9712745" y="1716788"/>
            <a:ext cx="18526227" cy="18206396"/>
            <a:chOff x="0" y="0"/>
            <a:chExt cx="24701635" cy="24275194"/>
          </a:xfrm>
        </p:grpSpPr>
        <p:grpSp>
          <p:nvGrpSpPr>
            <p:cNvPr name="Group 3" id="3"/>
            <p:cNvGrpSpPr/>
            <p:nvPr/>
          </p:nvGrpSpPr>
          <p:grpSpPr>
            <a:xfrm rot="-9429521">
              <a:off x="3146270" y="9499417"/>
              <a:ext cx="20345509" cy="10343491"/>
              <a:chOff x="0" y="0"/>
              <a:chExt cx="2428403" cy="1234580"/>
            </a:xfrm>
          </p:grpSpPr>
          <p:sp>
            <p:nvSpPr>
              <p:cNvPr name="Freeform 4" id="4"/>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name="TextBox 5" id="5"/>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6" id="6"/>
            <p:cNvGrpSpPr/>
            <p:nvPr/>
          </p:nvGrpSpPr>
          <p:grpSpPr>
            <a:xfrm rot="-5490957">
              <a:off x="1752702" y="10352345"/>
              <a:ext cx="21000330" cy="1577296"/>
              <a:chOff x="0" y="0"/>
              <a:chExt cx="2061456" cy="154832"/>
            </a:xfrm>
          </p:grpSpPr>
          <p:sp>
            <p:nvSpPr>
              <p:cNvPr name="Freeform 7" id="7"/>
              <p:cNvSpPr/>
              <p:nvPr/>
            </p:nvSpPr>
            <p:spPr>
              <a:xfrm flipH="false" flipV="false" rot="0">
                <a:off x="0" y="0"/>
                <a:ext cx="2061456" cy="154832"/>
              </a:xfrm>
              <a:custGeom>
                <a:avLst/>
                <a:gdLst/>
                <a:ahLst/>
                <a:cxnLst/>
                <a:rect r="r" b="b" t="t" l="l"/>
                <a:pathLst>
                  <a:path h="154832" w="2061456">
                    <a:moveTo>
                      <a:pt x="230188" y="0"/>
                    </a:moveTo>
                    <a:lnTo>
                      <a:pt x="2061456" y="0"/>
                    </a:lnTo>
                    <a:lnTo>
                      <a:pt x="1831268" y="154832"/>
                    </a:lnTo>
                    <a:lnTo>
                      <a:pt x="0" y="154832"/>
                    </a:lnTo>
                    <a:lnTo>
                      <a:pt x="230188" y="0"/>
                    </a:lnTo>
                    <a:close/>
                  </a:path>
                </a:pathLst>
              </a:custGeom>
              <a:solidFill>
                <a:srgbClr val="3199CE">
                  <a:alpha val="43922"/>
                </a:srgbClr>
              </a:solidFill>
            </p:spPr>
          </p:sp>
          <p:sp>
            <p:nvSpPr>
              <p:cNvPr name="TextBox 8" id="8"/>
              <p:cNvSpPr txBox="true"/>
              <p:nvPr/>
            </p:nvSpPr>
            <p:spPr>
              <a:xfrm>
                <a:off x="254000" y="-38100"/>
                <a:ext cx="1553456" cy="192932"/>
              </a:xfrm>
              <a:prstGeom prst="rect">
                <a:avLst/>
              </a:prstGeom>
            </p:spPr>
            <p:txBody>
              <a:bodyPr anchor="ctr" rtlCol="false" tIns="65680" lIns="65680" bIns="65680" rIns="65680"/>
              <a:lstStyle/>
              <a:p>
                <a:pPr algn="ctr">
                  <a:lnSpc>
                    <a:spcPts val="2659"/>
                  </a:lnSpc>
                </a:pPr>
              </a:p>
            </p:txBody>
          </p:sp>
        </p:grpSp>
        <p:grpSp>
          <p:nvGrpSpPr>
            <p:cNvPr name="Group 9" id="9"/>
            <p:cNvGrpSpPr/>
            <p:nvPr/>
          </p:nvGrpSpPr>
          <p:grpSpPr>
            <a:xfrm rot="-8275618">
              <a:off x="843863" y="8118880"/>
              <a:ext cx="20345509" cy="10343491"/>
              <a:chOff x="0" y="0"/>
              <a:chExt cx="2428403" cy="1234580"/>
            </a:xfrm>
          </p:grpSpPr>
          <p:sp>
            <p:nvSpPr>
              <p:cNvPr name="Freeform 10" id="10"/>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175DBD">
                  <a:alpha val="32941"/>
                </a:srgbClr>
              </a:solidFill>
            </p:spPr>
          </p:sp>
          <p:sp>
            <p:nvSpPr>
              <p:cNvPr name="TextBox 11" id="11"/>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12" id="12"/>
            <p:cNvGrpSpPr/>
            <p:nvPr/>
          </p:nvGrpSpPr>
          <p:grpSpPr>
            <a:xfrm rot="-9137466">
              <a:off x="2080113" y="8966468"/>
              <a:ext cx="20345509" cy="10343491"/>
              <a:chOff x="0" y="0"/>
              <a:chExt cx="2428403" cy="1234580"/>
            </a:xfrm>
          </p:grpSpPr>
          <p:sp>
            <p:nvSpPr>
              <p:cNvPr name="Freeform 13" id="13"/>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3199CE">
                  <a:alpha val="32941"/>
                </a:srgbClr>
              </a:solidFill>
            </p:spPr>
          </p:sp>
          <p:sp>
            <p:nvSpPr>
              <p:cNvPr name="TextBox 14" id="14"/>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15" id="15"/>
            <p:cNvGrpSpPr/>
            <p:nvPr/>
          </p:nvGrpSpPr>
          <p:grpSpPr>
            <a:xfrm rot="-7039264">
              <a:off x="-66918" y="6863571"/>
              <a:ext cx="20345509" cy="10343491"/>
              <a:chOff x="0" y="0"/>
              <a:chExt cx="2428403" cy="1234580"/>
            </a:xfrm>
          </p:grpSpPr>
          <p:sp>
            <p:nvSpPr>
              <p:cNvPr name="Freeform 16" id="16"/>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name="TextBox 17" id="17"/>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18" id="18"/>
            <p:cNvGrpSpPr/>
            <p:nvPr/>
          </p:nvGrpSpPr>
          <p:grpSpPr>
            <a:xfrm rot="-6073135">
              <a:off x="-2947544" y="6965852"/>
              <a:ext cx="22696491" cy="10343491"/>
              <a:chOff x="0" y="0"/>
              <a:chExt cx="2709012" cy="1234580"/>
            </a:xfrm>
          </p:grpSpPr>
          <p:sp>
            <p:nvSpPr>
              <p:cNvPr name="Freeform 19" id="19"/>
              <p:cNvSpPr/>
              <p:nvPr/>
            </p:nvSpPr>
            <p:spPr>
              <a:xfrm flipH="false" flipV="false" rot="0">
                <a:off x="0" y="0"/>
                <a:ext cx="2709012" cy="1234580"/>
              </a:xfrm>
              <a:custGeom>
                <a:avLst/>
                <a:gdLst/>
                <a:ahLst/>
                <a:cxnLst/>
                <a:rect r="r" b="b" t="t" l="l"/>
                <a:pathLst>
                  <a:path h="1234580" w="2709012">
                    <a:moveTo>
                      <a:pt x="8883" y="0"/>
                    </a:moveTo>
                    <a:lnTo>
                      <a:pt x="2700129" y="0"/>
                    </a:lnTo>
                    <a:cubicBezTo>
                      <a:pt x="2702485" y="0"/>
                      <a:pt x="2704745" y="936"/>
                      <a:pt x="2706411" y="2602"/>
                    </a:cubicBezTo>
                    <a:cubicBezTo>
                      <a:pt x="2708077" y="4268"/>
                      <a:pt x="2709012" y="6527"/>
                      <a:pt x="2709012" y="8883"/>
                    </a:cubicBezTo>
                    <a:lnTo>
                      <a:pt x="2709012" y="1225697"/>
                    </a:lnTo>
                    <a:cubicBezTo>
                      <a:pt x="2709012" y="1228053"/>
                      <a:pt x="2708077" y="1230313"/>
                      <a:pt x="2706411" y="1231979"/>
                    </a:cubicBezTo>
                    <a:cubicBezTo>
                      <a:pt x="2704745" y="1233645"/>
                      <a:pt x="2702485" y="1234580"/>
                      <a:pt x="2700129" y="1234580"/>
                    </a:cubicBezTo>
                    <a:lnTo>
                      <a:pt x="8883" y="1234580"/>
                    </a:lnTo>
                    <a:cubicBezTo>
                      <a:pt x="6527" y="1234580"/>
                      <a:pt x="4268" y="1233645"/>
                      <a:pt x="2602" y="1231979"/>
                    </a:cubicBezTo>
                    <a:cubicBezTo>
                      <a:pt x="936" y="1230313"/>
                      <a:pt x="0" y="1228053"/>
                      <a:pt x="0" y="1225697"/>
                    </a:cubicBezTo>
                    <a:lnTo>
                      <a:pt x="0" y="8883"/>
                    </a:lnTo>
                    <a:cubicBezTo>
                      <a:pt x="0" y="6527"/>
                      <a:pt x="936" y="4268"/>
                      <a:pt x="2602" y="2602"/>
                    </a:cubicBezTo>
                    <a:cubicBezTo>
                      <a:pt x="4268" y="936"/>
                      <a:pt x="6527" y="0"/>
                      <a:pt x="8883" y="0"/>
                    </a:cubicBezTo>
                    <a:close/>
                  </a:path>
                </a:pathLst>
              </a:custGeom>
              <a:solidFill>
                <a:srgbClr val="175DBD">
                  <a:alpha val="11765"/>
                </a:srgbClr>
              </a:solidFill>
            </p:spPr>
          </p:sp>
          <p:sp>
            <p:nvSpPr>
              <p:cNvPr name="TextBox 20" id="20"/>
              <p:cNvSpPr txBox="true"/>
              <p:nvPr/>
            </p:nvSpPr>
            <p:spPr>
              <a:xfrm>
                <a:off x="0" y="-38100"/>
                <a:ext cx="2709012" cy="1272680"/>
              </a:xfrm>
              <a:prstGeom prst="rect">
                <a:avLst/>
              </a:prstGeom>
            </p:spPr>
            <p:txBody>
              <a:bodyPr anchor="ctr" rtlCol="false" tIns="65680" lIns="65680" bIns="65680" rIns="65680"/>
              <a:lstStyle/>
              <a:p>
                <a:pPr algn="ctr">
                  <a:lnSpc>
                    <a:spcPts val="2659"/>
                  </a:lnSpc>
                </a:pPr>
              </a:p>
            </p:txBody>
          </p:sp>
        </p:grpSp>
      </p:grpSp>
      <p:grpSp>
        <p:nvGrpSpPr>
          <p:cNvPr name="Group 21" id="21"/>
          <p:cNvGrpSpPr/>
          <p:nvPr/>
        </p:nvGrpSpPr>
        <p:grpSpPr>
          <a:xfrm rot="0">
            <a:off x="9474518" y="-9636184"/>
            <a:ext cx="18526227" cy="18206396"/>
            <a:chOff x="0" y="0"/>
            <a:chExt cx="24701635" cy="24275194"/>
          </a:xfrm>
        </p:grpSpPr>
        <p:grpSp>
          <p:nvGrpSpPr>
            <p:cNvPr name="Group 22" id="22"/>
            <p:cNvGrpSpPr/>
            <p:nvPr/>
          </p:nvGrpSpPr>
          <p:grpSpPr>
            <a:xfrm rot="1370478">
              <a:off x="1209857" y="4432286"/>
              <a:ext cx="20345509" cy="10343491"/>
              <a:chOff x="0" y="0"/>
              <a:chExt cx="2428403" cy="1234580"/>
            </a:xfrm>
          </p:grpSpPr>
          <p:sp>
            <p:nvSpPr>
              <p:cNvPr name="Freeform 23" id="23"/>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name="TextBox 24" id="24"/>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25" id="25"/>
            <p:cNvGrpSpPr/>
            <p:nvPr/>
          </p:nvGrpSpPr>
          <p:grpSpPr>
            <a:xfrm rot="5309042">
              <a:off x="1948604" y="12345553"/>
              <a:ext cx="21000330" cy="1577296"/>
              <a:chOff x="0" y="0"/>
              <a:chExt cx="2061456" cy="154832"/>
            </a:xfrm>
          </p:grpSpPr>
          <p:sp>
            <p:nvSpPr>
              <p:cNvPr name="Freeform 26" id="26"/>
              <p:cNvSpPr/>
              <p:nvPr/>
            </p:nvSpPr>
            <p:spPr>
              <a:xfrm flipH="false" flipV="false" rot="0">
                <a:off x="0" y="0"/>
                <a:ext cx="2061456" cy="154832"/>
              </a:xfrm>
              <a:custGeom>
                <a:avLst/>
                <a:gdLst/>
                <a:ahLst/>
                <a:cxnLst/>
                <a:rect r="r" b="b" t="t" l="l"/>
                <a:pathLst>
                  <a:path h="154832" w="2061456">
                    <a:moveTo>
                      <a:pt x="230188" y="0"/>
                    </a:moveTo>
                    <a:lnTo>
                      <a:pt x="2061456" y="0"/>
                    </a:lnTo>
                    <a:lnTo>
                      <a:pt x="1831268" y="154832"/>
                    </a:lnTo>
                    <a:lnTo>
                      <a:pt x="0" y="154832"/>
                    </a:lnTo>
                    <a:lnTo>
                      <a:pt x="230188" y="0"/>
                    </a:lnTo>
                    <a:close/>
                  </a:path>
                </a:pathLst>
              </a:custGeom>
              <a:solidFill>
                <a:srgbClr val="3199CE">
                  <a:alpha val="43922"/>
                </a:srgbClr>
              </a:solidFill>
            </p:spPr>
          </p:sp>
          <p:sp>
            <p:nvSpPr>
              <p:cNvPr name="TextBox 27" id="27"/>
              <p:cNvSpPr txBox="true"/>
              <p:nvPr/>
            </p:nvSpPr>
            <p:spPr>
              <a:xfrm>
                <a:off x="254000" y="-38100"/>
                <a:ext cx="1553456" cy="192932"/>
              </a:xfrm>
              <a:prstGeom prst="rect">
                <a:avLst/>
              </a:prstGeom>
            </p:spPr>
            <p:txBody>
              <a:bodyPr anchor="ctr" rtlCol="false" tIns="65680" lIns="65680" bIns="65680" rIns="65680"/>
              <a:lstStyle/>
              <a:p>
                <a:pPr algn="ctr">
                  <a:lnSpc>
                    <a:spcPts val="2659"/>
                  </a:lnSpc>
                </a:pPr>
              </a:p>
            </p:txBody>
          </p:sp>
        </p:grpSp>
        <p:grpSp>
          <p:nvGrpSpPr>
            <p:cNvPr name="Group 28" id="28"/>
            <p:cNvGrpSpPr/>
            <p:nvPr/>
          </p:nvGrpSpPr>
          <p:grpSpPr>
            <a:xfrm rot="2524381">
              <a:off x="3512264" y="5812823"/>
              <a:ext cx="20345509" cy="10343491"/>
              <a:chOff x="0" y="0"/>
              <a:chExt cx="2428403" cy="1234580"/>
            </a:xfrm>
          </p:grpSpPr>
          <p:sp>
            <p:nvSpPr>
              <p:cNvPr name="Freeform 29" id="29"/>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175DBD">
                  <a:alpha val="32941"/>
                </a:srgbClr>
              </a:solidFill>
            </p:spPr>
          </p:sp>
          <p:sp>
            <p:nvSpPr>
              <p:cNvPr name="TextBox 30" id="30"/>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31" id="31"/>
            <p:cNvGrpSpPr/>
            <p:nvPr/>
          </p:nvGrpSpPr>
          <p:grpSpPr>
            <a:xfrm rot="1662533">
              <a:off x="2276014" y="4965235"/>
              <a:ext cx="20345509" cy="10343491"/>
              <a:chOff x="0" y="0"/>
              <a:chExt cx="2428403" cy="1234580"/>
            </a:xfrm>
          </p:grpSpPr>
          <p:sp>
            <p:nvSpPr>
              <p:cNvPr name="Freeform 32" id="32"/>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3199CE">
                  <a:alpha val="32941"/>
                </a:srgbClr>
              </a:solidFill>
            </p:spPr>
          </p:sp>
          <p:sp>
            <p:nvSpPr>
              <p:cNvPr name="TextBox 33" id="33"/>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34" id="34"/>
            <p:cNvGrpSpPr/>
            <p:nvPr/>
          </p:nvGrpSpPr>
          <p:grpSpPr>
            <a:xfrm rot="3760735">
              <a:off x="4423045" y="7068132"/>
              <a:ext cx="20345509" cy="10343491"/>
              <a:chOff x="0" y="0"/>
              <a:chExt cx="2428403" cy="1234580"/>
            </a:xfrm>
          </p:grpSpPr>
          <p:sp>
            <p:nvSpPr>
              <p:cNvPr name="Freeform 35" id="35"/>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name="TextBox 36" id="36"/>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37" id="37"/>
            <p:cNvGrpSpPr/>
            <p:nvPr/>
          </p:nvGrpSpPr>
          <p:grpSpPr>
            <a:xfrm rot="4726864">
              <a:off x="4952688" y="6965852"/>
              <a:ext cx="22696491" cy="10343491"/>
              <a:chOff x="0" y="0"/>
              <a:chExt cx="2709012" cy="1234580"/>
            </a:xfrm>
          </p:grpSpPr>
          <p:sp>
            <p:nvSpPr>
              <p:cNvPr name="Freeform 38" id="38"/>
              <p:cNvSpPr/>
              <p:nvPr/>
            </p:nvSpPr>
            <p:spPr>
              <a:xfrm flipH="false" flipV="false" rot="0">
                <a:off x="0" y="0"/>
                <a:ext cx="2709012" cy="1234580"/>
              </a:xfrm>
              <a:custGeom>
                <a:avLst/>
                <a:gdLst/>
                <a:ahLst/>
                <a:cxnLst/>
                <a:rect r="r" b="b" t="t" l="l"/>
                <a:pathLst>
                  <a:path h="1234580" w="2709012">
                    <a:moveTo>
                      <a:pt x="8883" y="0"/>
                    </a:moveTo>
                    <a:lnTo>
                      <a:pt x="2700129" y="0"/>
                    </a:lnTo>
                    <a:cubicBezTo>
                      <a:pt x="2702485" y="0"/>
                      <a:pt x="2704745" y="936"/>
                      <a:pt x="2706411" y="2602"/>
                    </a:cubicBezTo>
                    <a:cubicBezTo>
                      <a:pt x="2708077" y="4268"/>
                      <a:pt x="2709012" y="6527"/>
                      <a:pt x="2709012" y="8883"/>
                    </a:cubicBezTo>
                    <a:lnTo>
                      <a:pt x="2709012" y="1225697"/>
                    </a:lnTo>
                    <a:cubicBezTo>
                      <a:pt x="2709012" y="1228053"/>
                      <a:pt x="2708077" y="1230313"/>
                      <a:pt x="2706411" y="1231979"/>
                    </a:cubicBezTo>
                    <a:cubicBezTo>
                      <a:pt x="2704745" y="1233645"/>
                      <a:pt x="2702485" y="1234580"/>
                      <a:pt x="2700129" y="1234580"/>
                    </a:cubicBezTo>
                    <a:lnTo>
                      <a:pt x="8883" y="1234580"/>
                    </a:lnTo>
                    <a:cubicBezTo>
                      <a:pt x="6527" y="1234580"/>
                      <a:pt x="4268" y="1233645"/>
                      <a:pt x="2602" y="1231979"/>
                    </a:cubicBezTo>
                    <a:cubicBezTo>
                      <a:pt x="936" y="1230313"/>
                      <a:pt x="0" y="1228053"/>
                      <a:pt x="0" y="1225697"/>
                    </a:cubicBezTo>
                    <a:lnTo>
                      <a:pt x="0" y="8883"/>
                    </a:lnTo>
                    <a:cubicBezTo>
                      <a:pt x="0" y="6527"/>
                      <a:pt x="936" y="4268"/>
                      <a:pt x="2602" y="2602"/>
                    </a:cubicBezTo>
                    <a:cubicBezTo>
                      <a:pt x="4268" y="936"/>
                      <a:pt x="6527" y="0"/>
                      <a:pt x="8883" y="0"/>
                    </a:cubicBezTo>
                    <a:close/>
                  </a:path>
                </a:pathLst>
              </a:custGeom>
              <a:solidFill>
                <a:srgbClr val="175DBD">
                  <a:alpha val="11765"/>
                </a:srgbClr>
              </a:solidFill>
            </p:spPr>
          </p:sp>
          <p:sp>
            <p:nvSpPr>
              <p:cNvPr name="TextBox 39" id="39"/>
              <p:cNvSpPr txBox="true"/>
              <p:nvPr/>
            </p:nvSpPr>
            <p:spPr>
              <a:xfrm>
                <a:off x="0" y="-38100"/>
                <a:ext cx="2709012" cy="1272680"/>
              </a:xfrm>
              <a:prstGeom prst="rect">
                <a:avLst/>
              </a:prstGeom>
            </p:spPr>
            <p:txBody>
              <a:bodyPr anchor="ctr" rtlCol="false" tIns="65680" lIns="65680" bIns="65680" rIns="65680"/>
              <a:lstStyle/>
              <a:p>
                <a:pPr algn="ctr">
                  <a:lnSpc>
                    <a:spcPts val="2659"/>
                  </a:lnSpc>
                </a:pPr>
              </a:p>
            </p:txBody>
          </p:sp>
        </p:grpSp>
      </p:grpSp>
      <p:sp>
        <p:nvSpPr>
          <p:cNvPr name="Freeform 40" id="40"/>
          <p:cNvSpPr/>
          <p:nvPr/>
        </p:nvSpPr>
        <p:spPr>
          <a:xfrm flipH="true" flipV="false" rot="0">
            <a:off x="13332174" y="8570212"/>
            <a:ext cx="7315200" cy="2958662"/>
          </a:xfrm>
          <a:custGeom>
            <a:avLst/>
            <a:gdLst/>
            <a:ahLst/>
            <a:cxnLst/>
            <a:rect r="r" b="b" t="t" l="l"/>
            <a:pathLst>
              <a:path h="2958662" w="7315200">
                <a:moveTo>
                  <a:pt x="7315200" y="0"/>
                </a:moveTo>
                <a:lnTo>
                  <a:pt x="0" y="0"/>
                </a:lnTo>
                <a:lnTo>
                  <a:pt x="0" y="2958662"/>
                </a:lnTo>
                <a:lnTo>
                  <a:pt x="7315200" y="2958662"/>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1" id="41"/>
          <p:cNvSpPr/>
          <p:nvPr/>
        </p:nvSpPr>
        <p:spPr>
          <a:xfrm flipH="false" flipV="true" rot="0">
            <a:off x="-2359374" y="-1241874"/>
            <a:ext cx="7315200" cy="2958662"/>
          </a:xfrm>
          <a:custGeom>
            <a:avLst/>
            <a:gdLst/>
            <a:ahLst/>
            <a:cxnLst/>
            <a:rect r="r" b="b" t="t" l="l"/>
            <a:pathLst>
              <a:path h="2958662" w="7315200">
                <a:moveTo>
                  <a:pt x="0" y="2958662"/>
                </a:moveTo>
                <a:lnTo>
                  <a:pt x="7315200" y="2958662"/>
                </a:lnTo>
                <a:lnTo>
                  <a:pt x="7315200" y="0"/>
                </a:lnTo>
                <a:lnTo>
                  <a:pt x="0" y="0"/>
                </a:lnTo>
                <a:lnTo>
                  <a:pt x="0" y="29586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2" id="42"/>
          <p:cNvSpPr txBox="true"/>
          <p:nvPr/>
        </p:nvSpPr>
        <p:spPr>
          <a:xfrm rot="0">
            <a:off x="1984843" y="1600758"/>
            <a:ext cx="14318314" cy="1217289"/>
          </a:xfrm>
          <a:prstGeom prst="rect">
            <a:avLst/>
          </a:prstGeom>
        </p:spPr>
        <p:txBody>
          <a:bodyPr anchor="t" rtlCol="false" tIns="0" lIns="0" bIns="0" rIns="0">
            <a:spAutoFit/>
          </a:bodyPr>
          <a:lstStyle/>
          <a:p>
            <a:pPr algn="l" marL="0" indent="0" lvl="0">
              <a:lnSpc>
                <a:spcPts val="10080"/>
              </a:lnSpc>
              <a:spcBef>
                <a:spcPct val="0"/>
              </a:spcBef>
            </a:pPr>
            <a:r>
              <a:rPr lang="en-US" b="true" sz="7200">
                <a:solidFill>
                  <a:srgbClr val="113E7A"/>
                </a:solidFill>
                <a:latin typeface="Muli Ultra-Bold"/>
                <a:ea typeface="Muli Ultra-Bold"/>
                <a:cs typeface="Muli Ultra-Bold"/>
                <a:sym typeface="Muli Ultra-Bold"/>
              </a:rPr>
              <a:t>1. Công nghệ sử dụng</a:t>
            </a:r>
          </a:p>
        </p:txBody>
      </p:sp>
      <p:grpSp>
        <p:nvGrpSpPr>
          <p:cNvPr name="Group 43" id="43"/>
          <p:cNvGrpSpPr/>
          <p:nvPr/>
        </p:nvGrpSpPr>
        <p:grpSpPr>
          <a:xfrm rot="0">
            <a:off x="1984843" y="3998757"/>
            <a:ext cx="4493625" cy="3780100"/>
            <a:chOff x="0" y="0"/>
            <a:chExt cx="5991500" cy="5040134"/>
          </a:xfrm>
        </p:grpSpPr>
        <p:grpSp>
          <p:nvGrpSpPr>
            <p:cNvPr name="Group 44" id="44"/>
            <p:cNvGrpSpPr/>
            <p:nvPr/>
          </p:nvGrpSpPr>
          <p:grpSpPr>
            <a:xfrm rot="0">
              <a:off x="297917" y="214419"/>
              <a:ext cx="5395666" cy="4590700"/>
              <a:chOff x="0" y="0"/>
              <a:chExt cx="927682" cy="789283"/>
            </a:xfrm>
          </p:grpSpPr>
          <p:sp>
            <p:nvSpPr>
              <p:cNvPr name="Freeform 45" id="45"/>
              <p:cNvSpPr/>
              <p:nvPr/>
            </p:nvSpPr>
            <p:spPr>
              <a:xfrm flipH="false" flipV="false" rot="0">
                <a:off x="0" y="0"/>
                <a:ext cx="927682" cy="789283"/>
              </a:xfrm>
              <a:custGeom>
                <a:avLst/>
                <a:gdLst/>
                <a:ahLst/>
                <a:cxnLst/>
                <a:rect r="r" b="b" t="t" l="l"/>
                <a:pathLst>
                  <a:path h="789283" w="927682">
                    <a:moveTo>
                      <a:pt x="0" y="0"/>
                    </a:moveTo>
                    <a:lnTo>
                      <a:pt x="927682" y="0"/>
                    </a:lnTo>
                    <a:lnTo>
                      <a:pt x="927682" y="789283"/>
                    </a:lnTo>
                    <a:lnTo>
                      <a:pt x="0" y="789283"/>
                    </a:lnTo>
                    <a:close/>
                  </a:path>
                </a:pathLst>
              </a:custGeom>
              <a:solidFill>
                <a:srgbClr val="77E8FF">
                  <a:alpha val="10980"/>
                </a:srgbClr>
              </a:solidFill>
            </p:spPr>
          </p:sp>
          <p:sp>
            <p:nvSpPr>
              <p:cNvPr name="TextBox 46" id="46"/>
              <p:cNvSpPr txBox="true"/>
              <p:nvPr/>
            </p:nvSpPr>
            <p:spPr>
              <a:xfrm>
                <a:off x="0" y="-38100"/>
                <a:ext cx="927682" cy="827383"/>
              </a:xfrm>
              <a:prstGeom prst="rect">
                <a:avLst/>
              </a:prstGeom>
            </p:spPr>
            <p:txBody>
              <a:bodyPr anchor="ctr" rtlCol="false" tIns="45597" lIns="45597" bIns="45597" rIns="45597"/>
              <a:lstStyle/>
              <a:p>
                <a:pPr algn="ctr">
                  <a:lnSpc>
                    <a:spcPts val="2659"/>
                  </a:lnSpc>
                </a:pPr>
              </a:p>
            </p:txBody>
          </p:sp>
        </p:grpSp>
        <p:sp>
          <p:nvSpPr>
            <p:cNvPr name="Freeform 47" id="47"/>
            <p:cNvSpPr/>
            <p:nvPr/>
          </p:nvSpPr>
          <p:spPr>
            <a:xfrm flipH="false" flipV="false" rot="0">
              <a:off x="0" y="0"/>
              <a:ext cx="1078249" cy="844955"/>
            </a:xfrm>
            <a:custGeom>
              <a:avLst/>
              <a:gdLst/>
              <a:ahLst/>
              <a:cxnLst/>
              <a:rect r="r" b="b" t="t" l="l"/>
              <a:pathLst>
                <a:path h="844955" w="1078249">
                  <a:moveTo>
                    <a:pt x="0" y="0"/>
                  </a:moveTo>
                  <a:lnTo>
                    <a:pt x="1078249" y="0"/>
                  </a:lnTo>
                  <a:lnTo>
                    <a:pt x="1078249" y="844955"/>
                  </a:lnTo>
                  <a:lnTo>
                    <a:pt x="0" y="844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8" id="48"/>
            <p:cNvSpPr/>
            <p:nvPr/>
          </p:nvSpPr>
          <p:spPr>
            <a:xfrm flipH="true" flipV="true" rot="0">
              <a:off x="4913251" y="4195179"/>
              <a:ext cx="1078249" cy="844955"/>
            </a:xfrm>
            <a:custGeom>
              <a:avLst/>
              <a:gdLst/>
              <a:ahLst/>
              <a:cxnLst/>
              <a:rect r="r" b="b" t="t" l="l"/>
              <a:pathLst>
                <a:path h="844955" w="1078249">
                  <a:moveTo>
                    <a:pt x="1078249" y="844955"/>
                  </a:moveTo>
                  <a:lnTo>
                    <a:pt x="0" y="844955"/>
                  </a:lnTo>
                  <a:lnTo>
                    <a:pt x="0" y="0"/>
                  </a:lnTo>
                  <a:lnTo>
                    <a:pt x="1078249" y="0"/>
                  </a:lnTo>
                  <a:lnTo>
                    <a:pt x="1078249" y="844955"/>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49" id="49"/>
          <p:cNvGrpSpPr/>
          <p:nvPr/>
        </p:nvGrpSpPr>
        <p:grpSpPr>
          <a:xfrm rot="0">
            <a:off x="7328625" y="3998757"/>
            <a:ext cx="4493625" cy="3780100"/>
            <a:chOff x="0" y="0"/>
            <a:chExt cx="5991500" cy="5040134"/>
          </a:xfrm>
        </p:grpSpPr>
        <p:grpSp>
          <p:nvGrpSpPr>
            <p:cNvPr name="Group 50" id="50"/>
            <p:cNvGrpSpPr/>
            <p:nvPr/>
          </p:nvGrpSpPr>
          <p:grpSpPr>
            <a:xfrm rot="0">
              <a:off x="297917" y="235014"/>
              <a:ext cx="5395666" cy="4570106"/>
              <a:chOff x="0" y="0"/>
              <a:chExt cx="927682" cy="785742"/>
            </a:xfrm>
          </p:grpSpPr>
          <p:sp>
            <p:nvSpPr>
              <p:cNvPr name="Freeform 51" id="51"/>
              <p:cNvSpPr/>
              <p:nvPr/>
            </p:nvSpPr>
            <p:spPr>
              <a:xfrm flipH="false" flipV="false" rot="0">
                <a:off x="0" y="0"/>
                <a:ext cx="927682" cy="785742"/>
              </a:xfrm>
              <a:custGeom>
                <a:avLst/>
                <a:gdLst/>
                <a:ahLst/>
                <a:cxnLst/>
                <a:rect r="r" b="b" t="t" l="l"/>
                <a:pathLst>
                  <a:path h="785742" w="927682">
                    <a:moveTo>
                      <a:pt x="0" y="0"/>
                    </a:moveTo>
                    <a:lnTo>
                      <a:pt x="927682" y="0"/>
                    </a:lnTo>
                    <a:lnTo>
                      <a:pt x="927682" y="785742"/>
                    </a:lnTo>
                    <a:lnTo>
                      <a:pt x="0" y="785742"/>
                    </a:lnTo>
                    <a:close/>
                  </a:path>
                </a:pathLst>
              </a:custGeom>
              <a:solidFill>
                <a:srgbClr val="77E8FF">
                  <a:alpha val="10980"/>
                </a:srgbClr>
              </a:solidFill>
            </p:spPr>
          </p:sp>
          <p:sp>
            <p:nvSpPr>
              <p:cNvPr name="TextBox 52" id="52"/>
              <p:cNvSpPr txBox="true"/>
              <p:nvPr/>
            </p:nvSpPr>
            <p:spPr>
              <a:xfrm>
                <a:off x="0" y="-38100"/>
                <a:ext cx="927682" cy="823842"/>
              </a:xfrm>
              <a:prstGeom prst="rect">
                <a:avLst/>
              </a:prstGeom>
            </p:spPr>
            <p:txBody>
              <a:bodyPr anchor="ctr" rtlCol="false" tIns="45597" lIns="45597" bIns="45597" rIns="45597"/>
              <a:lstStyle/>
              <a:p>
                <a:pPr algn="ctr">
                  <a:lnSpc>
                    <a:spcPts val="2659"/>
                  </a:lnSpc>
                </a:pPr>
              </a:p>
            </p:txBody>
          </p:sp>
        </p:grpSp>
        <p:sp>
          <p:nvSpPr>
            <p:cNvPr name="Freeform 53" id="53"/>
            <p:cNvSpPr/>
            <p:nvPr/>
          </p:nvSpPr>
          <p:spPr>
            <a:xfrm flipH="false" flipV="false" rot="0">
              <a:off x="0" y="0"/>
              <a:ext cx="1078249" cy="844955"/>
            </a:xfrm>
            <a:custGeom>
              <a:avLst/>
              <a:gdLst/>
              <a:ahLst/>
              <a:cxnLst/>
              <a:rect r="r" b="b" t="t" l="l"/>
              <a:pathLst>
                <a:path h="844955" w="1078249">
                  <a:moveTo>
                    <a:pt x="0" y="0"/>
                  </a:moveTo>
                  <a:lnTo>
                    <a:pt x="1078249" y="0"/>
                  </a:lnTo>
                  <a:lnTo>
                    <a:pt x="1078249" y="844955"/>
                  </a:lnTo>
                  <a:lnTo>
                    <a:pt x="0" y="844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4" id="54"/>
            <p:cNvSpPr/>
            <p:nvPr/>
          </p:nvSpPr>
          <p:spPr>
            <a:xfrm flipH="true" flipV="true" rot="0">
              <a:off x="4913251" y="4195179"/>
              <a:ext cx="1078249" cy="844955"/>
            </a:xfrm>
            <a:custGeom>
              <a:avLst/>
              <a:gdLst/>
              <a:ahLst/>
              <a:cxnLst/>
              <a:rect r="r" b="b" t="t" l="l"/>
              <a:pathLst>
                <a:path h="844955" w="1078249">
                  <a:moveTo>
                    <a:pt x="1078249" y="844955"/>
                  </a:moveTo>
                  <a:lnTo>
                    <a:pt x="0" y="844955"/>
                  </a:lnTo>
                  <a:lnTo>
                    <a:pt x="0" y="0"/>
                  </a:lnTo>
                  <a:lnTo>
                    <a:pt x="1078249" y="0"/>
                  </a:lnTo>
                  <a:lnTo>
                    <a:pt x="1078249" y="844955"/>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55" id="55"/>
          <p:cNvGrpSpPr/>
          <p:nvPr/>
        </p:nvGrpSpPr>
        <p:grpSpPr>
          <a:xfrm rot="0">
            <a:off x="12479475" y="3998757"/>
            <a:ext cx="4493625" cy="3780100"/>
            <a:chOff x="0" y="0"/>
            <a:chExt cx="5991500" cy="5040134"/>
          </a:xfrm>
        </p:grpSpPr>
        <p:grpSp>
          <p:nvGrpSpPr>
            <p:cNvPr name="Group 56" id="56"/>
            <p:cNvGrpSpPr/>
            <p:nvPr/>
          </p:nvGrpSpPr>
          <p:grpSpPr>
            <a:xfrm rot="0">
              <a:off x="297917" y="235014"/>
              <a:ext cx="5395666" cy="4570106"/>
              <a:chOff x="0" y="0"/>
              <a:chExt cx="927682" cy="785742"/>
            </a:xfrm>
          </p:grpSpPr>
          <p:sp>
            <p:nvSpPr>
              <p:cNvPr name="Freeform 57" id="57"/>
              <p:cNvSpPr/>
              <p:nvPr/>
            </p:nvSpPr>
            <p:spPr>
              <a:xfrm flipH="false" flipV="false" rot="0">
                <a:off x="0" y="0"/>
                <a:ext cx="927682" cy="785742"/>
              </a:xfrm>
              <a:custGeom>
                <a:avLst/>
                <a:gdLst/>
                <a:ahLst/>
                <a:cxnLst/>
                <a:rect r="r" b="b" t="t" l="l"/>
                <a:pathLst>
                  <a:path h="785742" w="927682">
                    <a:moveTo>
                      <a:pt x="0" y="0"/>
                    </a:moveTo>
                    <a:lnTo>
                      <a:pt x="927682" y="0"/>
                    </a:lnTo>
                    <a:lnTo>
                      <a:pt x="927682" y="785742"/>
                    </a:lnTo>
                    <a:lnTo>
                      <a:pt x="0" y="785742"/>
                    </a:lnTo>
                    <a:close/>
                  </a:path>
                </a:pathLst>
              </a:custGeom>
              <a:solidFill>
                <a:srgbClr val="77E8FF">
                  <a:alpha val="10980"/>
                </a:srgbClr>
              </a:solidFill>
            </p:spPr>
          </p:sp>
          <p:sp>
            <p:nvSpPr>
              <p:cNvPr name="TextBox 58" id="58"/>
              <p:cNvSpPr txBox="true"/>
              <p:nvPr/>
            </p:nvSpPr>
            <p:spPr>
              <a:xfrm>
                <a:off x="0" y="-38100"/>
                <a:ext cx="927682" cy="823842"/>
              </a:xfrm>
              <a:prstGeom prst="rect">
                <a:avLst/>
              </a:prstGeom>
            </p:spPr>
            <p:txBody>
              <a:bodyPr anchor="ctr" rtlCol="false" tIns="45597" lIns="45597" bIns="45597" rIns="45597"/>
              <a:lstStyle/>
              <a:p>
                <a:pPr algn="ctr">
                  <a:lnSpc>
                    <a:spcPts val="2659"/>
                  </a:lnSpc>
                </a:pPr>
              </a:p>
            </p:txBody>
          </p:sp>
        </p:grpSp>
        <p:sp>
          <p:nvSpPr>
            <p:cNvPr name="Freeform 59" id="59"/>
            <p:cNvSpPr/>
            <p:nvPr/>
          </p:nvSpPr>
          <p:spPr>
            <a:xfrm flipH="false" flipV="false" rot="0">
              <a:off x="0" y="0"/>
              <a:ext cx="1078249" cy="844955"/>
            </a:xfrm>
            <a:custGeom>
              <a:avLst/>
              <a:gdLst/>
              <a:ahLst/>
              <a:cxnLst/>
              <a:rect r="r" b="b" t="t" l="l"/>
              <a:pathLst>
                <a:path h="844955" w="1078249">
                  <a:moveTo>
                    <a:pt x="0" y="0"/>
                  </a:moveTo>
                  <a:lnTo>
                    <a:pt x="1078249" y="0"/>
                  </a:lnTo>
                  <a:lnTo>
                    <a:pt x="1078249" y="844955"/>
                  </a:lnTo>
                  <a:lnTo>
                    <a:pt x="0" y="8449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0" id="60"/>
            <p:cNvSpPr/>
            <p:nvPr/>
          </p:nvSpPr>
          <p:spPr>
            <a:xfrm flipH="true" flipV="true" rot="0">
              <a:off x="4913251" y="4195179"/>
              <a:ext cx="1078249" cy="844955"/>
            </a:xfrm>
            <a:custGeom>
              <a:avLst/>
              <a:gdLst/>
              <a:ahLst/>
              <a:cxnLst/>
              <a:rect r="r" b="b" t="t" l="l"/>
              <a:pathLst>
                <a:path h="844955" w="1078249">
                  <a:moveTo>
                    <a:pt x="1078249" y="844955"/>
                  </a:moveTo>
                  <a:lnTo>
                    <a:pt x="0" y="844955"/>
                  </a:lnTo>
                  <a:lnTo>
                    <a:pt x="0" y="0"/>
                  </a:lnTo>
                  <a:lnTo>
                    <a:pt x="1078249" y="0"/>
                  </a:lnTo>
                  <a:lnTo>
                    <a:pt x="1078249" y="844955"/>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61" id="61"/>
          <p:cNvSpPr txBox="true"/>
          <p:nvPr/>
        </p:nvSpPr>
        <p:spPr>
          <a:xfrm rot="0">
            <a:off x="2512597" y="4493225"/>
            <a:ext cx="3438116" cy="2333779"/>
          </a:xfrm>
          <a:prstGeom prst="rect">
            <a:avLst/>
          </a:prstGeom>
        </p:spPr>
        <p:txBody>
          <a:bodyPr anchor="t" rtlCol="false" tIns="0" lIns="0" bIns="0" rIns="0">
            <a:spAutoFit/>
          </a:bodyPr>
          <a:lstStyle/>
          <a:p>
            <a:pPr algn="ctr">
              <a:lnSpc>
                <a:spcPts val="3141"/>
              </a:lnSpc>
            </a:pPr>
            <a:r>
              <a:rPr lang="en-US" sz="2243" b="true">
                <a:solidFill>
                  <a:srgbClr val="0D2648"/>
                </a:solidFill>
                <a:latin typeface="Muli Bold"/>
                <a:ea typeface="Muli Bold"/>
                <a:cs typeface="Muli Bold"/>
                <a:sym typeface="Muli Bold"/>
              </a:rPr>
              <a:t>Front-end</a:t>
            </a:r>
          </a:p>
          <a:p>
            <a:pPr algn="l" marL="484468" indent="-242234" lvl="1">
              <a:lnSpc>
                <a:spcPts val="3141"/>
              </a:lnSpc>
              <a:buFont typeface="Arial"/>
              <a:buChar char="•"/>
            </a:pPr>
            <a:r>
              <a:rPr lang="en-US" sz="2243">
                <a:solidFill>
                  <a:srgbClr val="0D2648"/>
                </a:solidFill>
                <a:latin typeface="Muli"/>
                <a:ea typeface="Muli"/>
                <a:cs typeface="Muli"/>
                <a:sym typeface="Muli"/>
              </a:rPr>
              <a:t>Next.js 16</a:t>
            </a:r>
          </a:p>
          <a:p>
            <a:pPr algn="l" marL="484468" indent="-242234" lvl="1">
              <a:lnSpc>
                <a:spcPts val="3141"/>
              </a:lnSpc>
              <a:buFont typeface="Arial"/>
              <a:buChar char="•"/>
            </a:pPr>
            <a:r>
              <a:rPr lang="en-US" sz="2243">
                <a:solidFill>
                  <a:srgbClr val="0D2648"/>
                </a:solidFill>
                <a:latin typeface="Muli"/>
                <a:ea typeface="Muli"/>
                <a:cs typeface="Muli"/>
                <a:sym typeface="Muli"/>
              </a:rPr>
              <a:t>React 19</a:t>
            </a:r>
          </a:p>
          <a:p>
            <a:pPr algn="l" marL="484468" indent="-242234" lvl="1">
              <a:lnSpc>
                <a:spcPts val="3141"/>
              </a:lnSpc>
              <a:buFont typeface="Arial"/>
              <a:buChar char="•"/>
            </a:pPr>
            <a:r>
              <a:rPr lang="en-US" sz="2243">
                <a:solidFill>
                  <a:srgbClr val="0D2648"/>
                </a:solidFill>
                <a:latin typeface="Muli"/>
                <a:ea typeface="Muli"/>
                <a:cs typeface="Muli"/>
                <a:sym typeface="Muli"/>
              </a:rPr>
              <a:t>TypeScript</a:t>
            </a:r>
          </a:p>
          <a:p>
            <a:pPr algn="l" marL="484468" indent="-242234" lvl="1">
              <a:lnSpc>
                <a:spcPts val="3141"/>
              </a:lnSpc>
              <a:buFont typeface="Arial"/>
              <a:buChar char="•"/>
            </a:pPr>
            <a:r>
              <a:rPr lang="en-US" sz="2243">
                <a:solidFill>
                  <a:srgbClr val="0D2648"/>
                </a:solidFill>
                <a:latin typeface="Muli"/>
                <a:ea typeface="Muli"/>
                <a:cs typeface="Muli"/>
                <a:sym typeface="Muli"/>
              </a:rPr>
              <a:t>Mantine 9</a:t>
            </a:r>
          </a:p>
          <a:p>
            <a:pPr algn="l" marL="484468" indent="-242234" lvl="1">
              <a:lnSpc>
                <a:spcPts val="3141"/>
              </a:lnSpc>
              <a:buFont typeface="Arial"/>
              <a:buChar char="•"/>
            </a:pPr>
            <a:r>
              <a:rPr lang="en-US" sz="2243">
                <a:solidFill>
                  <a:srgbClr val="0D2648"/>
                </a:solidFill>
                <a:latin typeface="Muli"/>
                <a:ea typeface="Muli"/>
                <a:cs typeface="Muli"/>
                <a:sym typeface="Muli"/>
              </a:rPr>
              <a:t>Zod</a:t>
            </a:r>
          </a:p>
        </p:txBody>
      </p:sp>
      <p:sp>
        <p:nvSpPr>
          <p:cNvPr name="TextBox 62" id="62"/>
          <p:cNvSpPr txBox="true"/>
          <p:nvPr/>
        </p:nvSpPr>
        <p:spPr>
          <a:xfrm rot="0">
            <a:off x="7856379" y="4493225"/>
            <a:ext cx="3438116" cy="2724304"/>
          </a:xfrm>
          <a:prstGeom prst="rect">
            <a:avLst/>
          </a:prstGeom>
        </p:spPr>
        <p:txBody>
          <a:bodyPr anchor="t" rtlCol="false" tIns="0" lIns="0" bIns="0" rIns="0">
            <a:spAutoFit/>
          </a:bodyPr>
          <a:lstStyle/>
          <a:p>
            <a:pPr algn="ctr">
              <a:lnSpc>
                <a:spcPts val="3141"/>
              </a:lnSpc>
            </a:pPr>
            <a:r>
              <a:rPr lang="en-US" sz="2243" b="true">
                <a:solidFill>
                  <a:srgbClr val="0D2648"/>
                </a:solidFill>
                <a:latin typeface="Muli Bold"/>
                <a:ea typeface="Muli Bold"/>
                <a:cs typeface="Muli Bold"/>
                <a:sym typeface="Muli Bold"/>
              </a:rPr>
              <a:t>Back-end</a:t>
            </a:r>
          </a:p>
          <a:p>
            <a:pPr algn="l" marL="484468" indent="-242234" lvl="1">
              <a:lnSpc>
                <a:spcPts val="3141"/>
              </a:lnSpc>
              <a:buFont typeface="Arial"/>
              <a:buChar char="•"/>
            </a:pPr>
            <a:r>
              <a:rPr lang="en-US" sz="2243">
                <a:solidFill>
                  <a:srgbClr val="0D2648"/>
                </a:solidFill>
                <a:latin typeface="Muli"/>
                <a:ea typeface="Muli"/>
                <a:cs typeface="Muli"/>
                <a:sym typeface="Muli"/>
              </a:rPr>
              <a:t>Python</a:t>
            </a:r>
          </a:p>
          <a:p>
            <a:pPr algn="l" marL="484468" indent="-242234" lvl="1">
              <a:lnSpc>
                <a:spcPts val="3141"/>
              </a:lnSpc>
              <a:buFont typeface="Arial"/>
              <a:buChar char="•"/>
            </a:pPr>
            <a:r>
              <a:rPr lang="en-US" sz="2243">
                <a:solidFill>
                  <a:srgbClr val="0D2648"/>
                </a:solidFill>
                <a:latin typeface="Muli"/>
                <a:ea typeface="Muli"/>
                <a:cs typeface="Muli"/>
                <a:sym typeface="Muli"/>
              </a:rPr>
              <a:t>FastAPI</a:t>
            </a:r>
          </a:p>
          <a:p>
            <a:pPr algn="l" marL="484468" indent="-242234" lvl="1">
              <a:lnSpc>
                <a:spcPts val="3141"/>
              </a:lnSpc>
              <a:buFont typeface="Arial"/>
              <a:buChar char="•"/>
            </a:pPr>
            <a:r>
              <a:rPr lang="en-US" sz="2243">
                <a:solidFill>
                  <a:srgbClr val="0D2648"/>
                </a:solidFill>
                <a:latin typeface="Muli"/>
                <a:ea typeface="Muli"/>
                <a:cs typeface="Muli"/>
                <a:sym typeface="Muli"/>
              </a:rPr>
              <a:t>SQLA</a:t>
            </a:r>
            <a:r>
              <a:rPr lang="en-US" sz="2243">
                <a:solidFill>
                  <a:srgbClr val="0D2648"/>
                </a:solidFill>
                <a:latin typeface="Muli"/>
                <a:ea typeface="Muli"/>
                <a:cs typeface="Muli"/>
                <a:sym typeface="Muli"/>
              </a:rPr>
              <a:t>l</a:t>
            </a:r>
            <a:r>
              <a:rPr lang="en-US" sz="2243">
                <a:solidFill>
                  <a:srgbClr val="0D2648"/>
                </a:solidFill>
                <a:latin typeface="Muli"/>
                <a:ea typeface="Muli"/>
                <a:cs typeface="Muli"/>
                <a:sym typeface="Muli"/>
              </a:rPr>
              <a:t>ch</a:t>
            </a:r>
            <a:r>
              <a:rPr lang="en-US" sz="2243">
                <a:solidFill>
                  <a:srgbClr val="0D2648"/>
                </a:solidFill>
                <a:latin typeface="Muli"/>
                <a:ea typeface="Muli"/>
                <a:cs typeface="Muli"/>
                <a:sym typeface="Muli"/>
              </a:rPr>
              <a:t>em</a:t>
            </a:r>
            <a:r>
              <a:rPr lang="en-US" sz="2243">
                <a:solidFill>
                  <a:srgbClr val="0D2648"/>
                </a:solidFill>
                <a:latin typeface="Muli"/>
                <a:ea typeface="Muli"/>
                <a:cs typeface="Muli"/>
                <a:sym typeface="Muli"/>
              </a:rPr>
              <a:t>y 2.0</a:t>
            </a:r>
          </a:p>
          <a:p>
            <a:pPr algn="l" marL="484468" indent="-242234" lvl="1">
              <a:lnSpc>
                <a:spcPts val="3141"/>
              </a:lnSpc>
              <a:buFont typeface="Arial"/>
              <a:buChar char="•"/>
            </a:pPr>
            <a:r>
              <a:rPr lang="en-US" sz="2243">
                <a:solidFill>
                  <a:srgbClr val="0D2648"/>
                </a:solidFill>
                <a:latin typeface="Muli"/>
                <a:ea typeface="Muli"/>
                <a:cs typeface="Muli"/>
                <a:sym typeface="Muli"/>
              </a:rPr>
              <a:t>A</a:t>
            </a:r>
            <a:r>
              <a:rPr lang="en-US" sz="2243">
                <a:solidFill>
                  <a:srgbClr val="0D2648"/>
                </a:solidFill>
                <a:latin typeface="Muli"/>
                <a:ea typeface="Muli"/>
                <a:cs typeface="Muli"/>
                <a:sym typeface="Muli"/>
              </a:rPr>
              <a:t>l</a:t>
            </a:r>
            <a:r>
              <a:rPr lang="en-US" sz="2243">
                <a:solidFill>
                  <a:srgbClr val="0D2648"/>
                </a:solidFill>
                <a:latin typeface="Muli"/>
                <a:ea typeface="Muli"/>
                <a:cs typeface="Muli"/>
                <a:sym typeface="Muli"/>
              </a:rPr>
              <a:t>emb</a:t>
            </a:r>
            <a:r>
              <a:rPr lang="en-US" sz="2243">
                <a:solidFill>
                  <a:srgbClr val="0D2648"/>
                </a:solidFill>
                <a:latin typeface="Muli"/>
                <a:ea typeface="Muli"/>
                <a:cs typeface="Muli"/>
                <a:sym typeface="Muli"/>
              </a:rPr>
              <a:t>i</a:t>
            </a:r>
            <a:r>
              <a:rPr lang="en-US" sz="2243">
                <a:solidFill>
                  <a:srgbClr val="0D2648"/>
                </a:solidFill>
                <a:latin typeface="Muli"/>
                <a:ea typeface="Muli"/>
                <a:cs typeface="Muli"/>
                <a:sym typeface="Muli"/>
              </a:rPr>
              <a:t>c</a:t>
            </a:r>
          </a:p>
          <a:p>
            <a:pPr algn="l" marL="484468" indent="-242234" lvl="1">
              <a:lnSpc>
                <a:spcPts val="3141"/>
              </a:lnSpc>
              <a:buFont typeface="Arial"/>
              <a:buChar char="•"/>
            </a:pPr>
            <a:r>
              <a:rPr lang="en-US" sz="2243">
                <a:solidFill>
                  <a:srgbClr val="0D2648"/>
                </a:solidFill>
                <a:latin typeface="Muli"/>
                <a:ea typeface="Muli"/>
                <a:cs typeface="Muli"/>
                <a:sym typeface="Muli"/>
              </a:rPr>
              <a:t>Pyda</a:t>
            </a:r>
            <a:r>
              <a:rPr lang="en-US" sz="2243">
                <a:solidFill>
                  <a:srgbClr val="0D2648"/>
                </a:solidFill>
                <a:latin typeface="Muli"/>
                <a:ea typeface="Muli"/>
                <a:cs typeface="Muli"/>
                <a:sym typeface="Muli"/>
              </a:rPr>
              <a:t>n</a:t>
            </a:r>
            <a:r>
              <a:rPr lang="en-US" sz="2243">
                <a:solidFill>
                  <a:srgbClr val="0D2648"/>
                </a:solidFill>
                <a:latin typeface="Muli"/>
                <a:ea typeface="Muli"/>
                <a:cs typeface="Muli"/>
                <a:sym typeface="Muli"/>
              </a:rPr>
              <a:t>tic</a:t>
            </a:r>
          </a:p>
          <a:p>
            <a:pPr algn="l" marL="484468" indent="-242234" lvl="1">
              <a:lnSpc>
                <a:spcPts val="3141"/>
              </a:lnSpc>
              <a:buFont typeface="Arial"/>
              <a:buChar char="•"/>
            </a:pPr>
            <a:r>
              <a:rPr lang="en-US" sz="2243">
                <a:solidFill>
                  <a:srgbClr val="0D2648"/>
                </a:solidFill>
                <a:latin typeface="Muli"/>
                <a:ea typeface="Muli"/>
                <a:cs typeface="Muli"/>
                <a:sym typeface="Muli"/>
              </a:rPr>
              <a:t>JWT</a:t>
            </a:r>
          </a:p>
        </p:txBody>
      </p:sp>
      <p:sp>
        <p:nvSpPr>
          <p:cNvPr name="TextBox 63" id="63"/>
          <p:cNvSpPr txBox="true"/>
          <p:nvPr/>
        </p:nvSpPr>
        <p:spPr>
          <a:xfrm rot="0">
            <a:off x="13100703" y="4493225"/>
            <a:ext cx="3438116" cy="1943254"/>
          </a:xfrm>
          <a:prstGeom prst="rect">
            <a:avLst/>
          </a:prstGeom>
        </p:spPr>
        <p:txBody>
          <a:bodyPr anchor="t" rtlCol="false" tIns="0" lIns="0" bIns="0" rIns="0">
            <a:spAutoFit/>
          </a:bodyPr>
          <a:lstStyle/>
          <a:p>
            <a:pPr algn="ctr">
              <a:lnSpc>
                <a:spcPts val="3141"/>
              </a:lnSpc>
            </a:pPr>
            <a:r>
              <a:rPr lang="en-US" sz="2243" b="true">
                <a:solidFill>
                  <a:srgbClr val="0D2648"/>
                </a:solidFill>
                <a:latin typeface="Muli Bold"/>
                <a:ea typeface="Muli Bold"/>
                <a:cs typeface="Muli Bold"/>
                <a:sym typeface="Muli Bold"/>
              </a:rPr>
              <a:t>Infrastructure &amp; Storage</a:t>
            </a:r>
          </a:p>
          <a:p>
            <a:pPr algn="l" marL="484468" indent="-242234" lvl="1">
              <a:lnSpc>
                <a:spcPts val="3141"/>
              </a:lnSpc>
              <a:buFont typeface="Arial"/>
              <a:buChar char="•"/>
            </a:pPr>
            <a:r>
              <a:rPr lang="en-US" sz="2243">
                <a:solidFill>
                  <a:srgbClr val="0D2648"/>
                </a:solidFill>
                <a:latin typeface="Muli"/>
                <a:ea typeface="Muli"/>
                <a:cs typeface="Muli"/>
                <a:sym typeface="Muli"/>
              </a:rPr>
              <a:t>Docker, Docker compose</a:t>
            </a:r>
          </a:p>
          <a:p>
            <a:pPr algn="l" marL="484468" indent="-242234" lvl="1">
              <a:lnSpc>
                <a:spcPts val="3141"/>
              </a:lnSpc>
              <a:buFont typeface="Arial"/>
              <a:buChar char="•"/>
            </a:pPr>
            <a:r>
              <a:rPr lang="en-US" sz="2243">
                <a:solidFill>
                  <a:srgbClr val="0D2648"/>
                </a:solidFill>
                <a:latin typeface="Muli"/>
                <a:ea typeface="Muli"/>
                <a:cs typeface="Muli"/>
                <a:sym typeface="Muli"/>
              </a:rPr>
              <a:t>PostgreSQL</a:t>
            </a:r>
          </a:p>
          <a:p>
            <a:pPr algn="l" marL="484468" indent="-242234" lvl="1">
              <a:lnSpc>
                <a:spcPts val="3141"/>
              </a:lnSpc>
              <a:buFont typeface="Arial"/>
              <a:buChar char="•"/>
            </a:pPr>
            <a:r>
              <a:rPr lang="en-US" sz="2243">
                <a:solidFill>
                  <a:srgbClr val="0D2648"/>
                </a:solidFill>
                <a:latin typeface="Muli"/>
                <a:ea typeface="Muli"/>
                <a:cs typeface="Muli"/>
                <a:sym typeface="Muli"/>
              </a:rPr>
              <a:t>MinIO - S3 compatible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CFE"/>
        </a:solidFill>
      </p:bgPr>
    </p:bg>
    <p:spTree>
      <p:nvGrpSpPr>
        <p:cNvPr id="1" name=""/>
        <p:cNvGrpSpPr/>
        <p:nvPr/>
      </p:nvGrpSpPr>
      <p:grpSpPr>
        <a:xfrm>
          <a:off x="0" y="0"/>
          <a:ext cx="0" cy="0"/>
          <a:chOff x="0" y="0"/>
          <a:chExt cx="0" cy="0"/>
        </a:xfrm>
      </p:grpSpPr>
      <p:grpSp>
        <p:nvGrpSpPr>
          <p:cNvPr name="Group 2" id="2"/>
          <p:cNvGrpSpPr/>
          <p:nvPr/>
        </p:nvGrpSpPr>
        <p:grpSpPr>
          <a:xfrm rot="0">
            <a:off x="-7414507" y="-6721593"/>
            <a:ext cx="14081576" cy="14328946"/>
            <a:chOff x="0" y="0"/>
            <a:chExt cx="18775435" cy="19105262"/>
          </a:xfrm>
        </p:grpSpPr>
        <p:grpSp>
          <p:nvGrpSpPr>
            <p:cNvPr name="Group 3" id="3"/>
            <p:cNvGrpSpPr/>
            <p:nvPr/>
          </p:nvGrpSpPr>
          <p:grpSpPr>
            <a:xfrm rot="-4029521">
              <a:off x="-439874" y="6301441"/>
              <a:ext cx="15736054" cy="8000082"/>
              <a:chOff x="0" y="0"/>
              <a:chExt cx="2428403" cy="1234580"/>
            </a:xfrm>
          </p:grpSpPr>
          <p:sp>
            <p:nvSpPr>
              <p:cNvPr name="Freeform 4" id="4"/>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5" id="5"/>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90957">
              <a:off x="2037272" y="8866899"/>
              <a:ext cx="16242519" cy="1219946"/>
              <a:chOff x="0" y="0"/>
              <a:chExt cx="2061456" cy="154832"/>
            </a:xfrm>
          </p:grpSpPr>
          <p:sp>
            <p:nvSpPr>
              <p:cNvPr name="Freeform 7" id="7"/>
              <p:cNvSpPr/>
              <p:nvPr/>
            </p:nvSpPr>
            <p:spPr>
              <a:xfrm flipH="false" flipV="false" rot="0">
                <a:off x="0" y="0"/>
                <a:ext cx="2061456" cy="154832"/>
              </a:xfrm>
              <a:custGeom>
                <a:avLst/>
                <a:gdLst/>
                <a:ahLst/>
                <a:cxnLst/>
                <a:rect r="r" b="b" t="t" l="l"/>
                <a:pathLst>
                  <a:path h="154832" w="2061456">
                    <a:moveTo>
                      <a:pt x="230188" y="0"/>
                    </a:moveTo>
                    <a:lnTo>
                      <a:pt x="2061456" y="0"/>
                    </a:lnTo>
                    <a:lnTo>
                      <a:pt x="1831268" y="154832"/>
                    </a:lnTo>
                    <a:lnTo>
                      <a:pt x="0" y="154832"/>
                    </a:lnTo>
                    <a:lnTo>
                      <a:pt x="230188" y="0"/>
                    </a:lnTo>
                    <a:close/>
                  </a:path>
                </a:pathLst>
              </a:custGeom>
              <a:solidFill>
                <a:srgbClr val="3199CE">
                  <a:alpha val="43922"/>
                </a:srgbClr>
              </a:solidFill>
            </p:spPr>
          </p:sp>
          <p:sp>
            <p:nvSpPr>
              <p:cNvPr name="TextBox 8" id="8"/>
              <p:cNvSpPr txBox="true"/>
              <p:nvPr/>
            </p:nvSpPr>
            <p:spPr>
              <a:xfrm>
                <a:off x="254000" y="-38100"/>
                <a:ext cx="1553456" cy="19293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875618">
              <a:off x="627890" y="4520664"/>
              <a:ext cx="15736054" cy="8000082"/>
              <a:chOff x="0" y="0"/>
              <a:chExt cx="2428403" cy="1234580"/>
            </a:xfrm>
          </p:grpSpPr>
          <p:sp>
            <p:nvSpPr>
              <p:cNvPr name="Freeform 10" id="10"/>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2941"/>
                </a:srgbClr>
              </a:solidFill>
            </p:spPr>
          </p:sp>
          <p:sp>
            <p:nvSpPr>
              <p:cNvPr name="TextBox 11" id="11"/>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3737466">
              <a:off x="-27669" y="5476831"/>
              <a:ext cx="15736054" cy="8000082"/>
              <a:chOff x="0" y="0"/>
              <a:chExt cx="2428403" cy="1234580"/>
            </a:xfrm>
          </p:grpSpPr>
          <p:sp>
            <p:nvSpPr>
              <p:cNvPr name="Freeform 13" id="13"/>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name="TextBox 14" id="14"/>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1639264">
              <a:off x="1598798" y="3816229"/>
              <a:ext cx="15736054" cy="8000082"/>
              <a:chOff x="0" y="0"/>
              <a:chExt cx="2428403" cy="1234580"/>
            </a:xfrm>
          </p:grpSpPr>
          <p:sp>
            <p:nvSpPr>
              <p:cNvPr name="Freeform 16" id="16"/>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17" id="17"/>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673135">
              <a:off x="610517" y="2497408"/>
              <a:ext cx="17554400" cy="8000082"/>
              <a:chOff x="0" y="0"/>
              <a:chExt cx="2709012" cy="1234580"/>
            </a:xfrm>
          </p:grpSpPr>
          <p:sp>
            <p:nvSpPr>
              <p:cNvPr name="Freeform 19" id="19"/>
              <p:cNvSpPr/>
              <p:nvPr/>
            </p:nvSpPr>
            <p:spPr>
              <a:xfrm flipH="false" flipV="false" rot="0">
                <a:off x="0" y="0"/>
                <a:ext cx="2709012" cy="1234580"/>
              </a:xfrm>
              <a:custGeom>
                <a:avLst/>
                <a:gdLst/>
                <a:ahLst/>
                <a:cxnLst/>
                <a:rect r="r" b="b" t="t" l="l"/>
                <a:pathLst>
                  <a:path h="1234580" w="2709012">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1765"/>
                </a:srgbClr>
              </a:solidFill>
            </p:spPr>
          </p:sp>
          <p:sp>
            <p:nvSpPr>
              <p:cNvPr name="TextBox 20" id="20"/>
              <p:cNvSpPr txBox="true"/>
              <p:nvPr/>
            </p:nvSpPr>
            <p:spPr>
              <a:xfrm>
                <a:off x="0" y="-38100"/>
                <a:ext cx="2709012" cy="1272680"/>
              </a:xfrm>
              <a:prstGeom prst="rect">
                <a:avLst/>
              </a:prstGeom>
            </p:spPr>
            <p:txBody>
              <a:bodyPr anchor="ctr" rtlCol="false" tIns="50800" lIns="50800" bIns="50800" rIns="50800"/>
              <a:lstStyle/>
              <a:p>
                <a:pPr algn="ctr">
                  <a:lnSpc>
                    <a:spcPts val="2659"/>
                  </a:lnSpc>
                </a:pPr>
              </a:p>
            </p:txBody>
          </p:sp>
        </p:grpSp>
      </p:grpSp>
      <p:grpSp>
        <p:nvGrpSpPr>
          <p:cNvPr name="Group 21" id="21"/>
          <p:cNvGrpSpPr/>
          <p:nvPr/>
        </p:nvGrpSpPr>
        <p:grpSpPr>
          <a:xfrm rot="0">
            <a:off x="11620932" y="2679647"/>
            <a:ext cx="14081576" cy="14328946"/>
            <a:chOff x="0" y="0"/>
            <a:chExt cx="18775435" cy="19105262"/>
          </a:xfrm>
        </p:grpSpPr>
        <p:grpSp>
          <p:nvGrpSpPr>
            <p:cNvPr name="Group 22" id="22"/>
            <p:cNvGrpSpPr/>
            <p:nvPr/>
          </p:nvGrpSpPr>
          <p:grpSpPr>
            <a:xfrm rot="6770478">
              <a:off x="3479254" y="4803740"/>
              <a:ext cx="15736054" cy="8000082"/>
              <a:chOff x="0" y="0"/>
              <a:chExt cx="2428403" cy="1234580"/>
            </a:xfrm>
          </p:grpSpPr>
          <p:sp>
            <p:nvSpPr>
              <p:cNvPr name="Freeform 23" id="23"/>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24" id="24"/>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10709042">
              <a:off x="495643" y="9018417"/>
              <a:ext cx="16242519" cy="1219946"/>
              <a:chOff x="0" y="0"/>
              <a:chExt cx="2061456" cy="154832"/>
            </a:xfrm>
          </p:grpSpPr>
          <p:sp>
            <p:nvSpPr>
              <p:cNvPr name="Freeform 26" id="26"/>
              <p:cNvSpPr/>
              <p:nvPr/>
            </p:nvSpPr>
            <p:spPr>
              <a:xfrm flipH="false" flipV="false" rot="0">
                <a:off x="0" y="0"/>
                <a:ext cx="2061456" cy="154832"/>
              </a:xfrm>
              <a:custGeom>
                <a:avLst/>
                <a:gdLst/>
                <a:ahLst/>
                <a:cxnLst/>
                <a:rect r="r" b="b" t="t" l="l"/>
                <a:pathLst>
                  <a:path h="154832" w="2061456">
                    <a:moveTo>
                      <a:pt x="230188" y="0"/>
                    </a:moveTo>
                    <a:lnTo>
                      <a:pt x="2061456" y="0"/>
                    </a:lnTo>
                    <a:lnTo>
                      <a:pt x="1831268" y="154832"/>
                    </a:lnTo>
                    <a:lnTo>
                      <a:pt x="0" y="154832"/>
                    </a:lnTo>
                    <a:lnTo>
                      <a:pt x="230188" y="0"/>
                    </a:lnTo>
                    <a:close/>
                  </a:path>
                </a:pathLst>
              </a:custGeom>
              <a:solidFill>
                <a:srgbClr val="3199CE">
                  <a:alpha val="43922"/>
                </a:srgbClr>
              </a:solidFill>
            </p:spPr>
          </p:sp>
          <p:sp>
            <p:nvSpPr>
              <p:cNvPr name="TextBox 27" id="27"/>
              <p:cNvSpPr txBox="true"/>
              <p:nvPr/>
            </p:nvSpPr>
            <p:spPr>
              <a:xfrm>
                <a:off x="254000" y="-38100"/>
                <a:ext cx="1553456" cy="192932"/>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7924381">
              <a:off x="2411490" y="6584516"/>
              <a:ext cx="15736054" cy="8000082"/>
              <a:chOff x="0" y="0"/>
              <a:chExt cx="2428403" cy="1234580"/>
            </a:xfrm>
          </p:grpSpPr>
          <p:sp>
            <p:nvSpPr>
              <p:cNvPr name="Freeform 29" id="29"/>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2941"/>
                </a:srgbClr>
              </a:solidFill>
            </p:spPr>
          </p:sp>
          <p:sp>
            <p:nvSpPr>
              <p:cNvPr name="TextBox 30" id="30"/>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7062533">
              <a:off x="3067050" y="5628349"/>
              <a:ext cx="15736054" cy="8000082"/>
              <a:chOff x="0" y="0"/>
              <a:chExt cx="2428403" cy="1234580"/>
            </a:xfrm>
          </p:grpSpPr>
          <p:sp>
            <p:nvSpPr>
              <p:cNvPr name="Freeform 32" id="32"/>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name="TextBox 33" id="33"/>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9160735">
              <a:off x="1440582" y="7288951"/>
              <a:ext cx="15736054" cy="8000082"/>
              <a:chOff x="0" y="0"/>
              <a:chExt cx="2428403" cy="1234580"/>
            </a:xfrm>
          </p:grpSpPr>
          <p:sp>
            <p:nvSpPr>
              <p:cNvPr name="Freeform 35" id="35"/>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36" id="36"/>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10126864">
              <a:off x="610517" y="8607772"/>
              <a:ext cx="17554400" cy="8000082"/>
              <a:chOff x="0" y="0"/>
              <a:chExt cx="2709012" cy="1234580"/>
            </a:xfrm>
          </p:grpSpPr>
          <p:sp>
            <p:nvSpPr>
              <p:cNvPr name="Freeform 38" id="38"/>
              <p:cNvSpPr/>
              <p:nvPr/>
            </p:nvSpPr>
            <p:spPr>
              <a:xfrm flipH="false" flipV="false" rot="0">
                <a:off x="0" y="0"/>
                <a:ext cx="2709012" cy="1234580"/>
              </a:xfrm>
              <a:custGeom>
                <a:avLst/>
                <a:gdLst/>
                <a:ahLst/>
                <a:cxnLst/>
                <a:rect r="r" b="b" t="t" l="l"/>
                <a:pathLst>
                  <a:path h="1234580" w="2709012">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1765"/>
                </a:srgbClr>
              </a:solidFill>
            </p:spPr>
          </p:sp>
          <p:sp>
            <p:nvSpPr>
              <p:cNvPr name="TextBox 39" id="39"/>
              <p:cNvSpPr txBox="true"/>
              <p:nvPr/>
            </p:nvSpPr>
            <p:spPr>
              <a:xfrm>
                <a:off x="0" y="-38100"/>
                <a:ext cx="2709012" cy="1272680"/>
              </a:xfrm>
              <a:prstGeom prst="rect">
                <a:avLst/>
              </a:prstGeom>
            </p:spPr>
            <p:txBody>
              <a:bodyPr anchor="ctr" rtlCol="false" tIns="50800" lIns="50800" bIns="50800" rIns="50800"/>
              <a:lstStyle/>
              <a:p>
                <a:pPr algn="ctr">
                  <a:lnSpc>
                    <a:spcPts val="2659"/>
                  </a:lnSpc>
                </a:pPr>
              </a:p>
            </p:txBody>
          </p:sp>
        </p:grpSp>
      </p:grpSp>
      <p:sp>
        <p:nvSpPr>
          <p:cNvPr name="Freeform 40" id="40"/>
          <p:cNvSpPr/>
          <p:nvPr/>
        </p:nvSpPr>
        <p:spPr>
          <a:xfrm flipH="false" flipV="false" rot="0">
            <a:off x="-1825623" y="8364789"/>
            <a:ext cx="7315200" cy="2958662"/>
          </a:xfrm>
          <a:custGeom>
            <a:avLst/>
            <a:gdLst/>
            <a:ahLst/>
            <a:cxnLst/>
            <a:rect r="r" b="b" t="t" l="l"/>
            <a:pathLst>
              <a:path h="2958662" w="7315200">
                <a:moveTo>
                  <a:pt x="0" y="0"/>
                </a:moveTo>
                <a:lnTo>
                  <a:pt x="7315200" y="0"/>
                </a:lnTo>
                <a:lnTo>
                  <a:pt x="7315200" y="2958662"/>
                </a:lnTo>
                <a:lnTo>
                  <a:pt x="0" y="29586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1" id="41"/>
          <p:cNvSpPr/>
          <p:nvPr/>
        </p:nvSpPr>
        <p:spPr>
          <a:xfrm flipH="true" flipV="true" rot="0">
            <a:off x="12798423" y="-1036451"/>
            <a:ext cx="7315200" cy="2958662"/>
          </a:xfrm>
          <a:custGeom>
            <a:avLst/>
            <a:gdLst/>
            <a:ahLst/>
            <a:cxnLst/>
            <a:rect r="r" b="b" t="t" l="l"/>
            <a:pathLst>
              <a:path h="2958662" w="7315200">
                <a:moveTo>
                  <a:pt x="7315200" y="2958662"/>
                </a:moveTo>
                <a:lnTo>
                  <a:pt x="0" y="2958662"/>
                </a:lnTo>
                <a:lnTo>
                  <a:pt x="0" y="0"/>
                </a:lnTo>
                <a:lnTo>
                  <a:pt x="7315200" y="0"/>
                </a:lnTo>
                <a:lnTo>
                  <a:pt x="7315200" y="29586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2" id="42"/>
          <p:cNvSpPr/>
          <p:nvPr/>
        </p:nvSpPr>
        <p:spPr>
          <a:xfrm flipH="false" flipV="false" rot="0">
            <a:off x="2249192" y="3409145"/>
            <a:ext cx="13789617" cy="4955643"/>
          </a:xfrm>
          <a:custGeom>
            <a:avLst/>
            <a:gdLst/>
            <a:ahLst/>
            <a:cxnLst/>
            <a:rect r="r" b="b" t="t" l="l"/>
            <a:pathLst>
              <a:path h="4955643" w="13789617">
                <a:moveTo>
                  <a:pt x="0" y="0"/>
                </a:moveTo>
                <a:lnTo>
                  <a:pt x="13789616" y="0"/>
                </a:lnTo>
                <a:lnTo>
                  <a:pt x="13789616" y="4955644"/>
                </a:lnTo>
                <a:lnTo>
                  <a:pt x="0" y="4955644"/>
                </a:lnTo>
                <a:lnTo>
                  <a:pt x="0" y="0"/>
                </a:lnTo>
                <a:close/>
              </a:path>
            </a:pathLst>
          </a:custGeom>
          <a:blipFill>
            <a:blip r:embed="rId4"/>
            <a:stretch>
              <a:fillRect l="0" t="0" r="0" b="0"/>
            </a:stretch>
          </a:blipFill>
        </p:spPr>
      </p:sp>
      <p:sp>
        <p:nvSpPr>
          <p:cNvPr name="TextBox 43" id="43"/>
          <p:cNvSpPr txBox="true"/>
          <p:nvPr/>
        </p:nvSpPr>
        <p:spPr>
          <a:xfrm rot="0">
            <a:off x="1984843" y="1600758"/>
            <a:ext cx="14318314" cy="1217289"/>
          </a:xfrm>
          <a:prstGeom prst="rect">
            <a:avLst/>
          </a:prstGeom>
        </p:spPr>
        <p:txBody>
          <a:bodyPr anchor="t" rtlCol="false" tIns="0" lIns="0" bIns="0" rIns="0">
            <a:spAutoFit/>
          </a:bodyPr>
          <a:lstStyle/>
          <a:p>
            <a:pPr algn="l" marL="0" indent="0" lvl="0">
              <a:lnSpc>
                <a:spcPts val="10080"/>
              </a:lnSpc>
              <a:spcBef>
                <a:spcPct val="0"/>
              </a:spcBef>
            </a:pPr>
            <a:r>
              <a:rPr lang="en-US" b="true" sz="7200">
                <a:solidFill>
                  <a:srgbClr val="113E7A"/>
                </a:solidFill>
                <a:latin typeface="Muli Ultra-Bold"/>
                <a:ea typeface="Muli Ultra-Bold"/>
                <a:cs typeface="Muli Ultra-Bold"/>
                <a:sym typeface="Muli Ultra-Bold"/>
              </a:rPr>
              <a:t>2. Sơ đồ kiến trúc tổng quan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CFE"/>
        </a:solidFill>
      </p:bgPr>
    </p:bg>
    <p:spTree>
      <p:nvGrpSpPr>
        <p:cNvPr id="1" name=""/>
        <p:cNvGrpSpPr/>
        <p:nvPr/>
      </p:nvGrpSpPr>
      <p:grpSpPr>
        <a:xfrm>
          <a:off x="0" y="0"/>
          <a:ext cx="0" cy="0"/>
          <a:chOff x="0" y="0"/>
          <a:chExt cx="0" cy="0"/>
        </a:xfrm>
      </p:grpSpPr>
      <p:grpSp>
        <p:nvGrpSpPr>
          <p:cNvPr name="Group 2" id="2"/>
          <p:cNvGrpSpPr/>
          <p:nvPr/>
        </p:nvGrpSpPr>
        <p:grpSpPr>
          <a:xfrm rot="0">
            <a:off x="-9712745" y="1716788"/>
            <a:ext cx="18526227" cy="18206396"/>
            <a:chOff x="0" y="0"/>
            <a:chExt cx="24701635" cy="24275194"/>
          </a:xfrm>
        </p:grpSpPr>
        <p:grpSp>
          <p:nvGrpSpPr>
            <p:cNvPr name="Group 3" id="3"/>
            <p:cNvGrpSpPr/>
            <p:nvPr/>
          </p:nvGrpSpPr>
          <p:grpSpPr>
            <a:xfrm rot="-9429521">
              <a:off x="3146270" y="9499417"/>
              <a:ext cx="20345509" cy="10343491"/>
              <a:chOff x="0" y="0"/>
              <a:chExt cx="2428403" cy="1234580"/>
            </a:xfrm>
          </p:grpSpPr>
          <p:sp>
            <p:nvSpPr>
              <p:cNvPr name="Freeform 4" id="4"/>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name="TextBox 5" id="5"/>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6" id="6"/>
            <p:cNvGrpSpPr/>
            <p:nvPr/>
          </p:nvGrpSpPr>
          <p:grpSpPr>
            <a:xfrm rot="-5490957">
              <a:off x="1752702" y="10352345"/>
              <a:ext cx="21000330" cy="1577296"/>
              <a:chOff x="0" y="0"/>
              <a:chExt cx="2061456" cy="154832"/>
            </a:xfrm>
          </p:grpSpPr>
          <p:sp>
            <p:nvSpPr>
              <p:cNvPr name="Freeform 7" id="7"/>
              <p:cNvSpPr/>
              <p:nvPr/>
            </p:nvSpPr>
            <p:spPr>
              <a:xfrm flipH="false" flipV="false" rot="0">
                <a:off x="0" y="0"/>
                <a:ext cx="2061456" cy="154832"/>
              </a:xfrm>
              <a:custGeom>
                <a:avLst/>
                <a:gdLst/>
                <a:ahLst/>
                <a:cxnLst/>
                <a:rect r="r" b="b" t="t" l="l"/>
                <a:pathLst>
                  <a:path h="154832" w="2061456">
                    <a:moveTo>
                      <a:pt x="230188" y="0"/>
                    </a:moveTo>
                    <a:lnTo>
                      <a:pt x="2061456" y="0"/>
                    </a:lnTo>
                    <a:lnTo>
                      <a:pt x="1831268" y="154832"/>
                    </a:lnTo>
                    <a:lnTo>
                      <a:pt x="0" y="154832"/>
                    </a:lnTo>
                    <a:lnTo>
                      <a:pt x="230188" y="0"/>
                    </a:lnTo>
                    <a:close/>
                  </a:path>
                </a:pathLst>
              </a:custGeom>
              <a:solidFill>
                <a:srgbClr val="3199CE">
                  <a:alpha val="43922"/>
                </a:srgbClr>
              </a:solidFill>
            </p:spPr>
          </p:sp>
          <p:sp>
            <p:nvSpPr>
              <p:cNvPr name="TextBox 8" id="8"/>
              <p:cNvSpPr txBox="true"/>
              <p:nvPr/>
            </p:nvSpPr>
            <p:spPr>
              <a:xfrm>
                <a:off x="254000" y="-38100"/>
                <a:ext cx="1553456" cy="192932"/>
              </a:xfrm>
              <a:prstGeom prst="rect">
                <a:avLst/>
              </a:prstGeom>
            </p:spPr>
            <p:txBody>
              <a:bodyPr anchor="ctr" rtlCol="false" tIns="65680" lIns="65680" bIns="65680" rIns="65680"/>
              <a:lstStyle/>
              <a:p>
                <a:pPr algn="ctr">
                  <a:lnSpc>
                    <a:spcPts val="2659"/>
                  </a:lnSpc>
                </a:pPr>
              </a:p>
            </p:txBody>
          </p:sp>
        </p:grpSp>
        <p:grpSp>
          <p:nvGrpSpPr>
            <p:cNvPr name="Group 9" id="9"/>
            <p:cNvGrpSpPr/>
            <p:nvPr/>
          </p:nvGrpSpPr>
          <p:grpSpPr>
            <a:xfrm rot="-8275618">
              <a:off x="843863" y="8118880"/>
              <a:ext cx="20345509" cy="10343491"/>
              <a:chOff x="0" y="0"/>
              <a:chExt cx="2428403" cy="1234580"/>
            </a:xfrm>
          </p:grpSpPr>
          <p:sp>
            <p:nvSpPr>
              <p:cNvPr name="Freeform 10" id="10"/>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175DBD">
                  <a:alpha val="32941"/>
                </a:srgbClr>
              </a:solidFill>
            </p:spPr>
          </p:sp>
          <p:sp>
            <p:nvSpPr>
              <p:cNvPr name="TextBox 11" id="11"/>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12" id="12"/>
            <p:cNvGrpSpPr/>
            <p:nvPr/>
          </p:nvGrpSpPr>
          <p:grpSpPr>
            <a:xfrm rot="-9137466">
              <a:off x="2080113" y="8966468"/>
              <a:ext cx="20345509" cy="10343491"/>
              <a:chOff x="0" y="0"/>
              <a:chExt cx="2428403" cy="1234580"/>
            </a:xfrm>
          </p:grpSpPr>
          <p:sp>
            <p:nvSpPr>
              <p:cNvPr name="Freeform 13" id="13"/>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3199CE">
                  <a:alpha val="32941"/>
                </a:srgbClr>
              </a:solidFill>
            </p:spPr>
          </p:sp>
          <p:sp>
            <p:nvSpPr>
              <p:cNvPr name="TextBox 14" id="14"/>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15" id="15"/>
            <p:cNvGrpSpPr/>
            <p:nvPr/>
          </p:nvGrpSpPr>
          <p:grpSpPr>
            <a:xfrm rot="-7039264">
              <a:off x="-66918" y="6863571"/>
              <a:ext cx="20345509" cy="10343491"/>
              <a:chOff x="0" y="0"/>
              <a:chExt cx="2428403" cy="1234580"/>
            </a:xfrm>
          </p:grpSpPr>
          <p:sp>
            <p:nvSpPr>
              <p:cNvPr name="Freeform 16" id="16"/>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name="TextBox 17" id="17"/>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18" id="18"/>
            <p:cNvGrpSpPr/>
            <p:nvPr/>
          </p:nvGrpSpPr>
          <p:grpSpPr>
            <a:xfrm rot="-6073135">
              <a:off x="-2947544" y="6965852"/>
              <a:ext cx="22696491" cy="10343491"/>
              <a:chOff x="0" y="0"/>
              <a:chExt cx="2709012" cy="1234580"/>
            </a:xfrm>
          </p:grpSpPr>
          <p:sp>
            <p:nvSpPr>
              <p:cNvPr name="Freeform 19" id="19"/>
              <p:cNvSpPr/>
              <p:nvPr/>
            </p:nvSpPr>
            <p:spPr>
              <a:xfrm flipH="false" flipV="false" rot="0">
                <a:off x="0" y="0"/>
                <a:ext cx="2709012" cy="1234580"/>
              </a:xfrm>
              <a:custGeom>
                <a:avLst/>
                <a:gdLst/>
                <a:ahLst/>
                <a:cxnLst/>
                <a:rect r="r" b="b" t="t" l="l"/>
                <a:pathLst>
                  <a:path h="1234580" w="2709012">
                    <a:moveTo>
                      <a:pt x="8883" y="0"/>
                    </a:moveTo>
                    <a:lnTo>
                      <a:pt x="2700129" y="0"/>
                    </a:lnTo>
                    <a:cubicBezTo>
                      <a:pt x="2702485" y="0"/>
                      <a:pt x="2704745" y="936"/>
                      <a:pt x="2706411" y="2602"/>
                    </a:cubicBezTo>
                    <a:cubicBezTo>
                      <a:pt x="2708077" y="4268"/>
                      <a:pt x="2709012" y="6527"/>
                      <a:pt x="2709012" y="8883"/>
                    </a:cubicBezTo>
                    <a:lnTo>
                      <a:pt x="2709012" y="1225697"/>
                    </a:lnTo>
                    <a:cubicBezTo>
                      <a:pt x="2709012" y="1228053"/>
                      <a:pt x="2708077" y="1230313"/>
                      <a:pt x="2706411" y="1231979"/>
                    </a:cubicBezTo>
                    <a:cubicBezTo>
                      <a:pt x="2704745" y="1233645"/>
                      <a:pt x="2702485" y="1234580"/>
                      <a:pt x="2700129" y="1234580"/>
                    </a:cubicBezTo>
                    <a:lnTo>
                      <a:pt x="8883" y="1234580"/>
                    </a:lnTo>
                    <a:cubicBezTo>
                      <a:pt x="6527" y="1234580"/>
                      <a:pt x="4268" y="1233645"/>
                      <a:pt x="2602" y="1231979"/>
                    </a:cubicBezTo>
                    <a:cubicBezTo>
                      <a:pt x="936" y="1230313"/>
                      <a:pt x="0" y="1228053"/>
                      <a:pt x="0" y="1225697"/>
                    </a:cubicBezTo>
                    <a:lnTo>
                      <a:pt x="0" y="8883"/>
                    </a:lnTo>
                    <a:cubicBezTo>
                      <a:pt x="0" y="6527"/>
                      <a:pt x="936" y="4268"/>
                      <a:pt x="2602" y="2602"/>
                    </a:cubicBezTo>
                    <a:cubicBezTo>
                      <a:pt x="4268" y="936"/>
                      <a:pt x="6527" y="0"/>
                      <a:pt x="8883" y="0"/>
                    </a:cubicBezTo>
                    <a:close/>
                  </a:path>
                </a:pathLst>
              </a:custGeom>
              <a:solidFill>
                <a:srgbClr val="175DBD">
                  <a:alpha val="11765"/>
                </a:srgbClr>
              </a:solidFill>
            </p:spPr>
          </p:sp>
          <p:sp>
            <p:nvSpPr>
              <p:cNvPr name="TextBox 20" id="20"/>
              <p:cNvSpPr txBox="true"/>
              <p:nvPr/>
            </p:nvSpPr>
            <p:spPr>
              <a:xfrm>
                <a:off x="0" y="-38100"/>
                <a:ext cx="2709012" cy="1272680"/>
              </a:xfrm>
              <a:prstGeom prst="rect">
                <a:avLst/>
              </a:prstGeom>
            </p:spPr>
            <p:txBody>
              <a:bodyPr anchor="ctr" rtlCol="false" tIns="65680" lIns="65680" bIns="65680" rIns="65680"/>
              <a:lstStyle/>
              <a:p>
                <a:pPr algn="ctr">
                  <a:lnSpc>
                    <a:spcPts val="2659"/>
                  </a:lnSpc>
                </a:pPr>
              </a:p>
            </p:txBody>
          </p:sp>
        </p:grpSp>
      </p:grpSp>
      <p:grpSp>
        <p:nvGrpSpPr>
          <p:cNvPr name="Group 21" id="21"/>
          <p:cNvGrpSpPr/>
          <p:nvPr/>
        </p:nvGrpSpPr>
        <p:grpSpPr>
          <a:xfrm rot="0">
            <a:off x="9474518" y="-9636184"/>
            <a:ext cx="18526227" cy="18206396"/>
            <a:chOff x="0" y="0"/>
            <a:chExt cx="24701635" cy="24275194"/>
          </a:xfrm>
        </p:grpSpPr>
        <p:grpSp>
          <p:nvGrpSpPr>
            <p:cNvPr name="Group 22" id="22"/>
            <p:cNvGrpSpPr/>
            <p:nvPr/>
          </p:nvGrpSpPr>
          <p:grpSpPr>
            <a:xfrm rot="1370478">
              <a:off x="1209857" y="4432286"/>
              <a:ext cx="20345509" cy="10343491"/>
              <a:chOff x="0" y="0"/>
              <a:chExt cx="2428403" cy="1234580"/>
            </a:xfrm>
          </p:grpSpPr>
          <p:sp>
            <p:nvSpPr>
              <p:cNvPr name="Freeform 23" id="23"/>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name="TextBox 24" id="24"/>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25" id="25"/>
            <p:cNvGrpSpPr/>
            <p:nvPr/>
          </p:nvGrpSpPr>
          <p:grpSpPr>
            <a:xfrm rot="5309042">
              <a:off x="1948604" y="12345553"/>
              <a:ext cx="21000330" cy="1577296"/>
              <a:chOff x="0" y="0"/>
              <a:chExt cx="2061456" cy="154832"/>
            </a:xfrm>
          </p:grpSpPr>
          <p:sp>
            <p:nvSpPr>
              <p:cNvPr name="Freeform 26" id="26"/>
              <p:cNvSpPr/>
              <p:nvPr/>
            </p:nvSpPr>
            <p:spPr>
              <a:xfrm flipH="false" flipV="false" rot="0">
                <a:off x="0" y="0"/>
                <a:ext cx="2061456" cy="154832"/>
              </a:xfrm>
              <a:custGeom>
                <a:avLst/>
                <a:gdLst/>
                <a:ahLst/>
                <a:cxnLst/>
                <a:rect r="r" b="b" t="t" l="l"/>
                <a:pathLst>
                  <a:path h="154832" w="2061456">
                    <a:moveTo>
                      <a:pt x="230188" y="0"/>
                    </a:moveTo>
                    <a:lnTo>
                      <a:pt x="2061456" y="0"/>
                    </a:lnTo>
                    <a:lnTo>
                      <a:pt x="1831268" y="154832"/>
                    </a:lnTo>
                    <a:lnTo>
                      <a:pt x="0" y="154832"/>
                    </a:lnTo>
                    <a:lnTo>
                      <a:pt x="230188" y="0"/>
                    </a:lnTo>
                    <a:close/>
                  </a:path>
                </a:pathLst>
              </a:custGeom>
              <a:solidFill>
                <a:srgbClr val="3199CE">
                  <a:alpha val="43922"/>
                </a:srgbClr>
              </a:solidFill>
            </p:spPr>
          </p:sp>
          <p:sp>
            <p:nvSpPr>
              <p:cNvPr name="TextBox 27" id="27"/>
              <p:cNvSpPr txBox="true"/>
              <p:nvPr/>
            </p:nvSpPr>
            <p:spPr>
              <a:xfrm>
                <a:off x="254000" y="-38100"/>
                <a:ext cx="1553456" cy="192932"/>
              </a:xfrm>
              <a:prstGeom prst="rect">
                <a:avLst/>
              </a:prstGeom>
            </p:spPr>
            <p:txBody>
              <a:bodyPr anchor="ctr" rtlCol="false" tIns="65680" lIns="65680" bIns="65680" rIns="65680"/>
              <a:lstStyle/>
              <a:p>
                <a:pPr algn="ctr">
                  <a:lnSpc>
                    <a:spcPts val="2659"/>
                  </a:lnSpc>
                </a:pPr>
              </a:p>
            </p:txBody>
          </p:sp>
        </p:grpSp>
        <p:grpSp>
          <p:nvGrpSpPr>
            <p:cNvPr name="Group 28" id="28"/>
            <p:cNvGrpSpPr/>
            <p:nvPr/>
          </p:nvGrpSpPr>
          <p:grpSpPr>
            <a:xfrm rot="2524381">
              <a:off x="3512264" y="5812823"/>
              <a:ext cx="20345509" cy="10343491"/>
              <a:chOff x="0" y="0"/>
              <a:chExt cx="2428403" cy="1234580"/>
            </a:xfrm>
          </p:grpSpPr>
          <p:sp>
            <p:nvSpPr>
              <p:cNvPr name="Freeform 29" id="29"/>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175DBD">
                  <a:alpha val="32941"/>
                </a:srgbClr>
              </a:solidFill>
            </p:spPr>
          </p:sp>
          <p:sp>
            <p:nvSpPr>
              <p:cNvPr name="TextBox 30" id="30"/>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31" id="31"/>
            <p:cNvGrpSpPr/>
            <p:nvPr/>
          </p:nvGrpSpPr>
          <p:grpSpPr>
            <a:xfrm rot="1662533">
              <a:off x="2276014" y="4965235"/>
              <a:ext cx="20345509" cy="10343491"/>
              <a:chOff x="0" y="0"/>
              <a:chExt cx="2428403" cy="1234580"/>
            </a:xfrm>
          </p:grpSpPr>
          <p:sp>
            <p:nvSpPr>
              <p:cNvPr name="Freeform 32" id="32"/>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3199CE">
                  <a:alpha val="32941"/>
                </a:srgbClr>
              </a:solidFill>
            </p:spPr>
          </p:sp>
          <p:sp>
            <p:nvSpPr>
              <p:cNvPr name="TextBox 33" id="33"/>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34" id="34"/>
            <p:cNvGrpSpPr/>
            <p:nvPr/>
          </p:nvGrpSpPr>
          <p:grpSpPr>
            <a:xfrm rot="3760735">
              <a:off x="4423045" y="7068132"/>
              <a:ext cx="20345509" cy="10343491"/>
              <a:chOff x="0" y="0"/>
              <a:chExt cx="2428403" cy="1234580"/>
            </a:xfrm>
          </p:grpSpPr>
          <p:sp>
            <p:nvSpPr>
              <p:cNvPr name="Freeform 35" id="35"/>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name="TextBox 36" id="36"/>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37" id="37"/>
            <p:cNvGrpSpPr/>
            <p:nvPr/>
          </p:nvGrpSpPr>
          <p:grpSpPr>
            <a:xfrm rot="4726864">
              <a:off x="4952688" y="6965852"/>
              <a:ext cx="22696491" cy="10343491"/>
              <a:chOff x="0" y="0"/>
              <a:chExt cx="2709012" cy="1234580"/>
            </a:xfrm>
          </p:grpSpPr>
          <p:sp>
            <p:nvSpPr>
              <p:cNvPr name="Freeform 38" id="38"/>
              <p:cNvSpPr/>
              <p:nvPr/>
            </p:nvSpPr>
            <p:spPr>
              <a:xfrm flipH="false" flipV="false" rot="0">
                <a:off x="0" y="0"/>
                <a:ext cx="2709012" cy="1234580"/>
              </a:xfrm>
              <a:custGeom>
                <a:avLst/>
                <a:gdLst/>
                <a:ahLst/>
                <a:cxnLst/>
                <a:rect r="r" b="b" t="t" l="l"/>
                <a:pathLst>
                  <a:path h="1234580" w="2709012">
                    <a:moveTo>
                      <a:pt x="8883" y="0"/>
                    </a:moveTo>
                    <a:lnTo>
                      <a:pt x="2700129" y="0"/>
                    </a:lnTo>
                    <a:cubicBezTo>
                      <a:pt x="2702485" y="0"/>
                      <a:pt x="2704745" y="936"/>
                      <a:pt x="2706411" y="2602"/>
                    </a:cubicBezTo>
                    <a:cubicBezTo>
                      <a:pt x="2708077" y="4268"/>
                      <a:pt x="2709012" y="6527"/>
                      <a:pt x="2709012" y="8883"/>
                    </a:cubicBezTo>
                    <a:lnTo>
                      <a:pt x="2709012" y="1225697"/>
                    </a:lnTo>
                    <a:cubicBezTo>
                      <a:pt x="2709012" y="1228053"/>
                      <a:pt x="2708077" y="1230313"/>
                      <a:pt x="2706411" y="1231979"/>
                    </a:cubicBezTo>
                    <a:cubicBezTo>
                      <a:pt x="2704745" y="1233645"/>
                      <a:pt x="2702485" y="1234580"/>
                      <a:pt x="2700129" y="1234580"/>
                    </a:cubicBezTo>
                    <a:lnTo>
                      <a:pt x="8883" y="1234580"/>
                    </a:lnTo>
                    <a:cubicBezTo>
                      <a:pt x="6527" y="1234580"/>
                      <a:pt x="4268" y="1233645"/>
                      <a:pt x="2602" y="1231979"/>
                    </a:cubicBezTo>
                    <a:cubicBezTo>
                      <a:pt x="936" y="1230313"/>
                      <a:pt x="0" y="1228053"/>
                      <a:pt x="0" y="1225697"/>
                    </a:cubicBezTo>
                    <a:lnTo>
                      <a:pt x="0" y="8883"/>
                    </a:lnTo>
                    <a:cubicBezTo>
                      <a:pt x="0" y="6527"/>
                      <a:pt x="936" y="4268"/>
                      <a:pt x="2602" y="2602"/>
                    </a:cubicBezTo>
                    <a:cubicBezTo>
                      <a:pt x="4268" y="936"/>
                      <a:pt x="6527" y="0"/>
                      <a:pt x="8883" y="0"/>
                    </a:cubicBezTo>
                    <a:close/>
                  </a:path>
                </a:pathLst>
              </a:custGeom>
              <a:solidFill>
                <a:srgbClr val="175DBD">
                  <a:alpha val="11765"/>
                </a:srgbClr>
              </a:solidFill>
            </p:spPr>
          </p:sp>
          <p:sp>
            <p:nvSpPr>
              <p:cNvPr name="TextBox 39" id="39"/>
              <p:cNvSpPr txBox="true"/>
              <p:nvPr/>
            </p:nvSpPr>
            <p:spPr>
              <a:xfrm>
                <a:off x="0" y="-38100"/>
                <a:ext cx="2709012" cy="1272680"/>
              </a:xfrm>
              <a:prstGeom prst="rect">
                <a:avLst/>
              </a:prstGeom>
            </p:spPr>
            <p:txBody>
              <a:bodyPr anchor="ctr" rtlCol="false" tIns="65680" lIns="65680" bIns="65680" rIns="65680"/>
              <a:lstStyle/>
              <a:p>
                <a:pPr algn="ctr">
                  <a:lnSpc>
                    <a:spcPts val="2659"/>
                  </a:lnSpc>
                </a:pPr>
              </a:p>
            </p:txBody>
          </p:sp>
        </p:grpSp>
      </p:grpSp>
      <p:sp>
        <p:nvSpPr>
          <p:cNvPr name="Freeform 40" id="40"/>
          <p:cNvSpPr/>
          <p:nvPr/>
        </p:nvSpPr>
        <p:spPr>
          <a:xfrm flipH="false" flipV="true" rot="0">
            <a:off x="-1500241" y="-2398012"/>
            <a:ext cx="6222760" cy="4114800"/>
          </a:xfrm>
          <a:custGeom>
            <a:avLst/>
            <a:gdLst/>
            <a:ahLst/>
            <a:cxnLst/>
            <a:rect r="r" b="b" t="t" l="l"/>
            <a:pathLst>
              <a:path h="4114800" w="6222760">
                <a:moveTo>
                  <a:pt x="0" y="4114800"/>
                </a:moveTo>
                <a:lnTo>
                  <a:pt x="6222760" y="4114800"/>
                </a:lnTo>
                <a:lnTo>
                  <a:pt x="622276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1" id="41"/>
          <p:cNvSpPr/>
          <p:nvPr/>
        </p:nvSpPr>
        <p:spPr>
          <a:xfrm flipH="true" flipV="false" rot="0">
            <a:off x="13565481" y="8570212"/>
            <a:ext cx="6222760" cy="4114800"/>
          </a:xfrm>
          <a:custGeom>
            <a:avLst/>
            <a:gdLst/>
            <a:ahLst/>
            <a:cxnLst/>
            <a:rect r="r" b="b" t="t" l="l"/>
            <a:pathLst>
              <a:path h="4114800" w="6222760">
                <a:moveTo>
                  <a:pt x="6222760" y="0"/>
                </a:moveTo>
                <a:lnTo>
                  <a:pt x="0" y="0"/>
                </a:lnTo>
                <a:lnTo>
                  <a:pt x="0" y="4114800"/>
                </a:lnTo>
                <a:lnTo>
                  <a:pt x="6222760" y="4114800"/>
                </a:lnTo>
                <a:lnTo>
                  <a:pt x="622276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2" id="42"/>
          <p:cNvSpPr txBox="true"/>
          <p:nvPr/>
        </p:nvSpPr>
        <p:spPr>
          <a:xfrm rot="0">
            <a:off x="1984843" y="1591233"/>
            <a:ext cx="14318314" cy="1210304"/>
          </a:xfrm>
          <a:prstGeom prst="rect">
            <a:avLst/>
          </a:prstGeom>
        </p:spPr>
        <p:txBody>
          <a:bodyPr anchor="t" rtlCol="false" tIns="0" lIns="0" bIns="0" rIns="0">
            <a:spAutoFit/>
          </a:bodyPr>
          <a:lstStyle/>
          <a:p>
            <a:pPr algn="l" marL="0" indent="0" lvl="0">
              <a:lnSpc>
                <a:spcPts val="9940"/>
              </a:lnSpc>
              <a:spcBef>
                <a:spcPct val="0"/>
              </a:spcBef>
            </a:pPr>
            <a:r>
              <a:rPr lang="en-US" b="true" sz="7100">
                <a:solidFill>
                  <a:srgbClr val="113E7A"/>
                </a:solidFill>
                <a:latin typeface="Muli Ultra-Bold"/>
                <a:ea typeface="Muli Ultra-Bold"/>
                <a:cs typeface="Muli Ultra-Bold"/>
                <a:sym typeface="Muli Ultra-Bold"/>
              </a:rPr>
              <a:t>3. Mô hình dữ liệu</a:t>
            </a:r>
          </a:p>
        </p:txBody>
      </p:sp>
      <p:sp>
        <p:nvSpPr>
          <p:cNvPr name="Freeform 43" id="43"/>
          <p:cNvSpPr/>
          <p:nvPr/>
        </p:nvSpPr>
        <p:spPr>
          <a:xfrm flipH="false" flipV="false" rot="0">
            <a:off x="3996355" y="2801537"/>
            <a:ext cx="10295289" cy="6579113"/>
          </a:xfrm>
          <a:custGeom>
            <a:avLst/>
            <a:gdLst/>
            <a:ahLst/>
            <a:cxnLst/>
            <a:rect r="r" b="b" t="t" l="l"/>
            <a:pathLst>
              <a:path h="6579113" w="10295289">
                <a:moveTo>
                  <a:pt x="0" y="0"/>
                </a:moveTo>
                <a:lnTo>
                  <a:pt x="10295290" y="0"/>
                </a:lnTo>
                <a:lnTo>
                  <a:pt x="10295290" y="6579113"/>
                </a:lnTo>
                <a:lnTo>
                  <a:pt x="0" y="6579113"/>
                </a:lnTo>
                <a:lnTo>
                  <a:pt x="0" y="0"/>
                </a:lnTo>
                <a:close/>
              </a:path>
            </a:pathLst>
          </a:custGeom>
          <a:blipFill>
            <a:blip r:embed="rId4"/>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CFE"/>
        </a:solidFill>
      </p:bgPr>
    </p:bg>
    <p:spTree>
      <p:nvGrpSpPr>
        <p:cNvPr id="1" name=""/>
        <p:cNvGrpSpPr/>
        <p:nvPr/>
      </p:nvGrpSpPr>
      <p:grpSpPr>
        <a:xfrm>
          <a:off x="0" y="0"/>
          <a:ext cx="0" cy="0"/>
          <a:chOff x="0" y="0"/>
          <a:chExt cx="0" cy="0"/>
        </a:xfrm>
      </p:grpSpPr>
      <p:grpSp>
        <p:nvGrpSpPr>
          <p:cNvPr name="Group 2" id="2"/>
          <p:cNvGrpSpPr/>
          <p:nvPr/>
        </p:nvGrpSpPr>
        <p:grpSpPr>
          <a:xfrm rot="0">
            <a:off x="-7414507" y="-6721593"/>
            <a:ext cx="14081576" cy="14328946"/>
            <a:chOff x="0" y="0"/>
            <a:chExt cx="18775435" cy="19105262"/>
          </a:xfrm>
        </p:grpSpPr>
        <p:grpSp>
          <p:nvGrpSpPr>
            <p:cNvPr name="Group 3" id="3"/>
            <p:cNvGrpSpPr/>
            <p:nvPr/>
          </p:nvGrpSpPr>
          <p:grpSpPr>
            <a:xfrm rot="-4029521">
              <a:off x="-439874" y="6301441"/>
              <a:ext cx="15736054" cy="8000082"/>
              <a:chOff x="0" y="0"/>
              <a:chExt cx="2428403" cy="1234580"/>
            </a:xfrm>
          </p:grpSpPr>
          <p:sp>
            <p:nvSpPr>
              <p:cNvPr name="Freeform 4" id="4"/>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5" id="5"/>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90957">
              <a:off x="2037272" y="8866899"/>
              <a:ext cx="16242519" cy="1219946"/>
              <a:chOff x="0" y="0"/>
              <a:chExt cx="2061456" cy="154832"/>
            </a:xfrm>
          </p:grpSpPr>
          <p:sp>
            <p:nvSpPr>
              <p:cNvPr name="Freeform 7" id="7"/>
              <p:cNvSpPr/>
              <p:nvPr/>
            </p:nvSpPr>
            <p:spPr>
              <a:xfrm flipH="false" flipV="false" rot="0">
                <a:off x="0" y="0"/>
                <a:ext cx="2061456" cy="154832"/>
              </a:xfrm>
              <a:custGeom>
                <a:avLst/>
                <a:gdLst/>
                <a:ahLst/>
                <a:cxnLst/>
                <a:rect r="r" b="b" t="t" l="l"/>
                <a:pathLst>
                  <a:path h="154832" w="2061456">
                    <a:moveTo>
                      <a:pt x="230188" y="0"/>
                    </a:moveTo>
                    <a:lnTo>
                      <a:pt x="2061456" y="0"/>
                    </a:lnTo>
                    <a:lnTo>
                      <a:pt x="1831268" y="154832"/>
                    </a:lnTo>
                    <a:lnTo>
                      <a:pt x="0" y="154832"/>
                    </a:lnTo>
                    <a:lnTo>
                      <a:pt x="230188" y="0"/>
                    </a:lnTo>
                    <a:close/>
                  </a:path>
                </a:pathLst>
              </a:custGeom>
              <a:solidFill>
                <a:srgbClr val="3199CE">
                  <a:alpha val="43922"/>
                </a:srgbClr>
              </a:solidFill>
            </p:spPr>
          </p:sp>
          <p:sp>
            <p:nvSpPr>
              <p:cNvPr name="TextBox 8" id="8"/>
              <p:cNvSpPr txBox="true"/>
              <p:nvPr/>
            </p:nvSpPr>
            <p:spPr>
              <a:xfrm>
                <a:off x="254000" y="-38100"/>
                <a:ext cx="1553456" cy="19293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875618">
              <a:off x="627890" y="4520664"/>
              <a:ext cx="15736054" cy="8000082"/>
              <a:chOff x="0" y="0"/>
              <a:chExt cx="2428403" cy="1234580"/>
            </a:xfrm>
          </p:grpSpPr>
          <p:sp>
            <p:nvSpPr>
              <p:cNvPr name="Freeform 10" id="10"/>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2941"/>
                </a:srgbClr>
              </a:solidFill>
            </p:spPr>
          </p:sp>
          <p:sp>
            <p:nvSpPr>
              <p:cNvPr name="TextBox 11" id="11"/>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3737466">
              <a:off x="-27669" y="5476831"/>
              <a:ext cx="15736054" cy="8000082"/>
              <a:chOff x="0" y="0"/>
              <a:chExt cx="2428403" cy="1234580"/>
            </a:xfrm>
          </p:grpSpPr>
          <p:sp>
            <p:nvSpPr>
              <p:cNvPr name="Freeform 13" id="13"/>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name="TextBox 14" id="14"/>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1639264">
              <a:off x="1598798" y="3816229"/>
              <a:ext cx="15736054" cy="8000082"/>
              <a:chOff x="0" y="0"/>
              <a:chExt cx="2428403" cy="1234580"/>
            </a:xfrm>
          </p:grpSpPr>
          <p:sp>
            <p:nvSpPr>
              <p:cNvPr name="Freeform 16" id="16"/>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17" id="17"/>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673135">
              <a:off x="610517" y="2497408"/>
              <a:ext cx="17554400" cy="8000082"/>
              <a:chOff x="0" y="0"/>
              <a:chExt cx="2709012" cy="1234580"/>
            </a:xfrm>
          </p:grpSpPr>
          <p:sp>
            <p:nvSpPr>
              <p:cNvPr name="Freeform 19" id="19"/>
              <p:cNvSpPr/>
              <p:nvPr/>
            </p:nvSpPr>
            <p:spPr>
              <a:xfrm flipH="false" flipV="false" rot="0">
                <a:off x="0" y="0"/>
                <a:ext cx="2709012" cy="1234580"/>
              </a:xfrm>
              <a:custGeom>
                <a:avLst/>
                <a:gdLst/>
                <a:ahLst/>
                <a:cxnLst/>
                <a:rect r="r" b="b" t="t" l="l"/>
                <a:pathLst>
                  <a:path h="1234580" w="2709012">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1765"/>
                </a:srgbClr>
              </a:solidFill>
            </p:spPr>
          </p:sp>
          <p:sp>
            <p:nvSpPr>
              <p:cNvPr name="TextBox 20" id="20"/>
              <p:cNvSpPr txBox="true"/>
              <p:nvPr/>
            </p:nvSpPr>
            <p:spPr>
              <a:xfrm>
                <a:off x="0" y="-38100"/>
                <a:ext cx="2709012" cy="1272680"/>
              </a:xfrm>
              <a:prstGeom prst="rect">
                <a:avLst/>
              </a:prstGeom>
            </p:spPr>
            <p:txBody>
              <a:bodyPr anchor="ctr" rtlCol="false" tIns="50800" lIns="50800" bIns="50800" rIns="50800"/>
              <a:lstStyle/>
              <a:p>
                <a:pPr algn="ctr">
                  <a:lnSpc>
                    <a:spcPts val="2659"/>
                  </a:lnSpc>
                </a:pPr>
              </a:p>
            </p:txBody>
          </p:sp>
        </p:grpSp>
      </p:grpSp>
      <p:grpSp>
        <p:nvGrpSpPr>
          <p:cNvPr name="Group 21" id="21"/>
          <p:cNvGrpSpPr/>
          <p:nvPr/>
        </p:nvGrpSpPr>
        <p:grpSpPr>
          <a:xfrm rot="0">
            <a:off x="11620932" y="2679647"/>
            <a:ext cx="14081576" cy="14328946"/>
            <a:chOff x="0" y="0"/>
            <a:chExt cx="18775435" cy="19105262"/>
          </a:xfrm>
        </p:grpSpPr>
        <p:grpSp>
          <p:nvGrpSpPr>
            <p:cNvPr name="Group 22" id="22"/>
            <p:cNvGrpSpPr/>
            <p:nvPr/>
          </p:nvGrpSpPr>
          <p:grpSpPr>
            <a:xfrm rot="6770478">
              <a:off x="3479254" y="4803740"/>
              <a:ext cx="15736054" cy="8000082"/>
              <a:chOff x="0" y="0"/>
              <a:chExt cx="2428403" cy="1234580"/>
            </a:xfrm>
          </p:grpSpPr>
          <p:sp>
            <p:nvSpPr>
              <p:cNvPr name="Freeform 23" id="23"/>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24" id="24"/>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10709042">
              <a:off x="495643" y="9018417"/>
              <a:ext cx="16242519" cy="1219946"/>
              <a:chOff x="0" y="0"/>
              <a:chExt cx="2061456" cy="154832"/>
            </a:xfrm>
          </p:grpSpPr>
          <p:sp>
            <p:nvSpPr>
              <p:cNvPr name="Freeform 26" id="26"/>
              <p:cNvSpPr/>
              <p:nvPr/>
            </p:nvSpPr>
            <p:spPr>
              <a:xfrm flipH="false" flipV="false" rot="0">
                <a:off x="0" y="0"/>
                <a:ext cx="2061456" cy="154832"/>
              </a:xfrm>
              <a:custGeom>
                <a:avLst/>
                <a:gdLst/>
                <a:ahLst/>
                <a:cxnLst/>
                <a:rect r="r" b="b" t="t" l="l"/>
                <a:pathLst>
                  <a:path h="154832" w="2061456">
                    <a:moveTo>
                      <a:pt x="230188" y="0"/>
                    </a:moveTo>
                    <a:lnTo>
                      <a:pt x="2061456" y="0"/>
                    </a:lnTo>
                    <a:lnTo>
                      <a:pt x="1831268" y="154832"/>
                    </a:lnTo>
                    <a:lnTo>
                      <a:pt x="0" y="154832"/>
                    </a:lnTo>
                    <a:lnTo>
                      <a:pt x="230188" y="0"/>
                    </a:lnTo>
                    <a:close/>
                  </a:path>
                </a:pathLst>
              </a:custGeom>
              <a:solidFill>
                <a:srgbClr val="3199CE">
                  <a:alpha val="43922"/>
                </a:srgbClr>
              </a:solidFill>
            </p:spPr>
          </p:sp>
          <p:sp>
            <p:nvSpPr>
              <p:cNvPr name="TextBox 27" id="27"/>
              <p:cNvSpPr txBox="true"/>
              <p:nvPr/>
            </p:nvSpPr>
            <p:spPr>
              <a:xfrm>
                <a:off x="254000" y="-38100"/>
                <a:ext cx="1553456" cy="192932"/>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7924381">
              <a:off x="2411490" y="6584516"/>
              <a:ext cx="15736054" cy="8000082"/>
              <a:chOff x="0" y="0"/>
              <a:chExt cx="2428403" cy="1234580"/>
            </a:xfrm>
          </p:grpSpPr>
          <p:sp>
            <p:nvSpPr>
              <p:cNvPr name="Freeform 29" id="29"/>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2941"/>
                </a:srgbClr>
              </a:solidFill>
            </p:spPr>
          </p:sp>
          <p:sp>
            <p:nvSpPr>
              <p:cNvPr name="TextBox 30" id="30"/>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7062533">
              <a:off x="3067050" y="5628349"/>
              <a:ext cx="15736054" cy="8000082"/>
              <a:chOff x="0" y="0"/>
              <a:chExt cx="2428403" cy="1234580"/>
            </a:xfrm>
          </p:grpSpPr>
          <p:sp>
            <p:nvSpPr>
              <p:cNvPr name="Freeform 32" id="32"/>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name="TextBox 33" id="33"/>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9160735">
              <a:off x="1440582" y="7288951"/>
              <a:ext cx="15736054" cy="8000082"/>
              <a:chOff x="0" y="0"/>
              <a:chExt cx="2428403" cy="1234580"/>
            </a:xfrm>
          </p:grpSpPr>
          <p:sp>
            <p:nvSpPr>
              <p:cNvPr name="Freeform 35" id="35"/>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36" id="36"/>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10126864">
              <a:off x="610517" y="8607772"/>
              <a:ext cx="17554400" cy="8000082"/>
              <a:chOff x="0" y="0"/>
              <a:chExt cx="2709012" cy="1234580"/>
            </a:xfrm>
          </p:grpSpPr>
          <p:sp>
            <p:nvSpPr>
              <p:cNvPr name="Freeform 38" id="38"/>
              <p:cNvSpPr/>
              <p:nvPr/>
            </p:nvSpPr>
            <p:spPr>
              <a:xfrm flipH="false" flipV="false" rot="0">
                <a:off x="0" y="0"/>
                <a:ext cx="2709012" cy="1234580"/>
              </a:xfrm>
              <a:custGeom>
                <a:avLst/>
                <a:gdLst/>
                <a:ahLst/>
                <a:cxnLst/>
                <a:rect r="r" b="b" t="t" l="l"/>
                <a:pathLst>
                  <a:path h="1234580" w="2709012">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1765"/>
                </a:srgbClr>
              </a:solidFill>
            </p:spPr>
          </p:sp>
          <p:sp>
            <p:nvSpPr>
              <p:cNvPr name="TextBox 39" id="39"/>
              <p:cNvSpPr txBox="true"/>
              <p:nvPr/>
            </p:nvSpPr>
            <p:spPr>
              <a:xfrm>
                <a:off x="0" y="-38100"/>
                <a:ext cx="2709012" cy="1272680"/>
              </a:xfrm>
              <a:prstGeom prst="rect">
                <a:avLst/>
              </a:prstGeom>
            </p:spPr>
            <p:txBody>
              <a:bodyPr anchor="ctr" rtlCol="false" tIns="50800" lIns="50800" bIns="50800" rIns="50800"/>
              <a:lstStyle/>
              <a:p>
                <a:pPr algn="ctr">
                  <a:lnSpc>
                    <a:spcPts val="2659"/>
                  </a:lnSpc>
                </a:pPr>
              </a:p>
            </p:txBody>
          </p:sp>
        </p:grpSp>
      </p:grpSp>
      <p:sp>
        <p:nvSpPr>
          <p:cNvPr name="Freeform 40" id="40"/>
          <p:cNvSpPr/>
          <p:nvPr/>
        </p:nvSpPr>
        <p:spPr>
          <a:xfrm flipH="false" flipV="true" rot="0">
            <a:off x="14573663" y="-2783793"/>
            <a:ext cx="6222760" cy="4114800"/>
          </a:xfrm>
          <a:custGeom>
            <a:avLst/>
            <a:gdLst/>
            <a:ahLst/>
            <a:cxnLst/>
            <a:rect r="r" b="b" t="t" l="l"/>
            <a:pathLst>
              <a:path h="4114800" w="6222760">
                <a:moveTo>
                  <a:pt x="0" y="4114800"/>
                </a:moveTo>
                <a:lnTo>
                  <a:pt x="6222760" y="4114800"/>
                </a:lnTo>
                <a:lnTo>
                  <a:pt x="622276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1" id="41"/>
          <p:cNvSpPr/>
          <p:nvPr/>
        </p:nvSpPr>
        <p:spPr>
          <a:xfrm flipH="true" flipV="false" rot="0">
            <a:off x="-2508423" y="8955993"/>
            <a:ext cx="6222760" cy="4114800"/>
          </a:xfrm>
          <a:custGeom>
            <a:avLst/>
            <a:gdLst/>
            <a:ahLst/>
            <a:cxnLst/>
            <a:rect r="r" b="b" t="t" l="l"/>
            <a:pathLst>
              <a:path h="4114800" w="6222760">
                <a:moveTo>
                  <a:pt x="6222760" y="0"/>
                </a:moveTo>
                <a:lnTo>
                  <a:pt x="0" y="0"/>
                </a:lnTo>
                <a:lnTo>
                  <a:pt x="0" y="4114800"/>
                </a:lnTo>
                <a:lnTo>
                  <a:pt x="6222760" y="4114800"/>
                </a:lnTo>
                <a:lnTo>
                  <a:pt x="622276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2" id="42"/>
          <p:cNvSpPr txBox="true"/>
          <p:nvPr/>
        </p:nvSpPr>
        <p:spPr>
          <a:xfrm rot="0">
            <a:off x="1984843" y="1410288"/>
            <a:ext cx="14318314" cy="1269359"/>
          </a:xfrm>
          <a:prstGeom prst="rect">
            <a:avLst/>
          </a:prstGeom>
        </p:spPr>
        <p:txBody>
          <a:bodyPr anchor="t" rtlCol="false" tIns="0" lIns="0" bIns="0" rIns="0">
            <a:spAutoFit/>
          </a:bodyPr>
          <a:lstStyle/>
          <a:p>
            <a:pPr algn="l" marL="0" indent="0" lvl="0">
              <a:lnSpc>
                <a:spcPts val="10360"/>
              </a:lnSpc>
              <a:spcBef>
                <a:spcPct val="0"/>
              </a:spcBef>
            </a:pPr>
            <a:r>
              <a:rPr lang="en-US" b="true" sz="7400">
                <a:solidFill>
                  <a:srgbClr val="113E7A"/>
                </a:solidFill>
                <a:latin typeface="Muli Ultra-Bold"/>
                <a:ea typeface="Muli Ultra-Bold"/>
                <a:cs typeface="Muli Ultra-Bold"/>
                <a:sym typeface="Muli Ultra-Bold"/>
              </a:rPr>
              <a:t>4. Chức năng Back-end</a:t>
            </a:r>
          </a:p>
        </p:txBody>
      </p:sp>
      <p:sp>
        <p:nvSpPr>
          <p:cNvPr name="TextBox 43" id="43"/>
          <p:cNvSpPr txBox="true"/>
          <p:nvPr/>
        </p:nvSpPr>
        <p:spPr>
          <a:xfrm rot="0">
            <a:off x="1874092" y="3775581"/>
            <a:ext cx="13921978" cy="4276219"/>
          </a:xfrm>
          <a:prstGeom prst="rect">
            <a:avLst/>
          </a:prstGeom>
        </p:spPr>
        <p:txBody>
          <a:bodyPr anchor="t" rtlCol="false" tIns="0" lIns="0" bIns="0" rIns="0">
            <a:spAutoFit/>
          </a:bodyPr>
          <a:lstStyle/>
          <a:p>
            <a:pPr algn="l">
              <a:lnSpc>
                <a:spcPts val="3457"/>
              </a:lnSpc>
            </a:pPr>
            <a:r>
              <a:rPr lang="en-US" sz="2469" b="true">
                <a:solidFill>
                  <a:srgbClr val="0D2648"/>
                </a:solidFill>
                <a:latin typeface="Muli Bold"/>
                <a:ea typeface="Muli Bold"/>
                <a:cs typeface="Muli Bold"/>
                <a:sym typeface="Muli Bold"/>
              </a:rPr>
              <a:t>4.1 Xác thực, Tin đăng, Danh mục &amp; Thư viện ảnh</a:t>
            </a:r>
          </a:p>
          <a:p>
            <a:pPr algn="l">
              <a:lnSpc>
                <a:spcPts val="2897"/>
              </a:lnSpc>
            </a:pPr>
            <a:r>
              <a:rPr lang="en-US" sz="2069">
                <a:solidFill>
                  <a:srgbClr val="0D2648"/>
                </a:solidFill>
                <a:latin typeface="Muli"/>
                <a:ea typeface="Muli"/>
                <a:cs typeface="Muli"/>
                <a:sym typeface="Muli"/>
              </a:rPr>
              <a:t>Đăng nhập JWT, bộ lọc tìm kiếm linh hoạt, cơ chế lưu tạm bản sửa, lưu trữ media</a:t>
            </a:r>
          </a:p>
          <a:p>
            <a:pPr algn="l">
              <a:lnSpc>
                <a:spcPts val="2897"/>
              </a:lnSpc>
            </a:pPr>
          </a:p>
          <a:p>
            <a:pPr algn="l">
              <a:lnSpc>
                <a:spcPts val="3457"/>
              </a:lnSpc>
            </a:pPr>
            <a:r>
              <a:rPr lang="en-US" sz="2469" b="true">
                <a:solidFill>
                  <a:srgbClr val="0D2648"/>
                </a:solidFill>
                <a:latin typeface="Muli Bold"/>
                <a:ea typeface="Muli Bold"/>
                <a:cs typeface="Muli Bold"/>
                <a:sym typeface="Muli Bold"/>
              </a:rPr>
              <a:t>4</a:t>
            </a:r>
            <a:r>
              <a:rPr lang="en-US" sz="2469" b="true">
                <a:solidFill>
                  <a:srgbClr val="0D2648"/>
                </a:solidFill>
                <a:latin typeface="Muli Bold"/>
                <a:ea typeface="Muli Bold"/>
                <a:cs typeface="Muli Bold"/>
                <a:sym typeface="Muli Bold"/>
              </a:rPr>
              <a:t>.2 Quản trị người dùng &amp; Duyệt/khóa tin đăng</a:t>
            </a:r>
          </a:p>
          <a:p>
            <a:pPr algn="l">
              <a:lnSpc>
                <a:spcPts val="2897"/>
              </a:lnSpc>
            </a:pPr>
            <a:r>
              <a:rPr lang="en-US" sz="2069">
                <a:solidFill>
                  <a:srgbClr val="0D2648"/>
                </a:solidFill>
                <a:latin typeface="Muli"/>
                <a:ea typeface="Muli"/>
                <a:cs typeface="Muli"/>
                <a:sym typeface="Muli"/>
              </a:rPr>
              <a:t>Phân quyền trạng thái tài khoản, hàng đợi duyệt đa năng</a:t>
            </a:r>
          </a:p>
          <a:p>
            <a:pPr algn="l">
              <a:lnSpc>
                <a:spcPts val="2897"/>
              </a:lnSpc>
            </a:pPr>
          </a:p>
          <a:p>
            <a:pPr algn="l">
              <a:lnSpc>
                <a:spcPts val="3457"/>
              </a:lnSpc>
            </a:pPr>
            <a:r>
              <a:rPr lang="en-US" sz="2469" b="true">
                <a:solidFill>
                  <a:srgbClr val="0D2648"/>
                </a:solidFill>
                <a:latin typeface="Muli Bold"/>
                <a:ea typeface="Muli Bold"/>
                <a:cs typeface="Muli Bold"/>
                <a:sym typeface="Muli Bold"/>
              </a:rPr>
              <a:t>4</a:t>
            </a:r>
            <a:r>
              <a:rPr lang="en-US" sz="2469" b="true">
                <a:solidFill>
                  <a:srgbClr val="0D2648"/>
                </a:solidFill>
                <a:latin typeface="Muli Bold"/>
                <a:ea typeface="Muli Bold"/>
                <a:cs typeface="Muli Bold"/>
                <a:sym typeface="Muli Bold"/>
              </a:rPr>
              <a:t>.3 Báo cáo vi phạm &amp; Thống kê tổng quan</a:t>
            </a:r>
          </a:p>
          <a:p>
            <a:pPr algn="l">
              <a:lnSpc>
                <a:spcPts val="2897"/>
              </a:lnSpc>
            </a:pPr>
            <a:r>
              <a:rPr lang="en-US" sz="2069">
                <a:solidFill>
                  <a:srgbClr val="0D2648"/>
                </a:solidFill>
                <a:latin typeface="Muli"/>
                <a:ea typeface="Muli"/>
                <a:cs typeface="Muli"/>
                <a:sym typeface="Muli"/>
              </a:rPr>
              <a:t>Quy trình xử lý báo cáo vi phạm chống spam, Dashboard biểu đồ thống kê giá thuê theo khu vực và loại hình</a:t>
            </a:r>
          </a:p>
          <a:p>
            <a:pPr algn="l">
              <a:lnSpc>
                <a:spcPts val="2897"/>
              </a:lnSpc>
            </a:pPr>
          </a:p>
          <a:p>
            <a:pPr algn="l">
              <a:lnSpc>
                <a:spcPts val="3457"/>
              </a:lnSpc>
            </a:pPr>
            <a:r>
              <a:rPr lang="en-US" sz="2469" b="true">
                <a:solidFill>
                  <a:srgbClr val="0D2648"/>
                </a:solidFill>
                <a:latin typeface="Muli Bold"/>
                <a:ea typeface="Muli Bold"/>
                <a:cs typeface="Muli Bold"/>
                <a:sym typeface="Muli Bold"/>
              </a:rPr>
              <a:t>4</a:t>
            </a:r>
            <a:r>
              <a:rPr lang="en-US" sz="2469" b="true">
                <a:solidFill>
                  <a:srgbClr val="0D2648"/>
                </a:solidFill>
                <a:latin typeface="Muli Bold"/>
                <a:ea typeface="Muli Bold"/>
                <a:cs typeface="Muli Bold"/>
                <a:sym typeface="Muli Bold"/>
              </a:rPr>
              <a:t>.4 Yêu thích &amp; Tin tức thị trường</a:t>
            </a:r>
          </a:p>
          <a:p>
            <a:pPr algn="l">
              <a:lnSpc>
                <a:spcPts val="2897"/>
              </a:lnSpc>
            </a:pPr>
            <a:r>
              <a:rPr lang="en-US" sz="2069">
                <a:solidFill>
                  <a:srgbClr val="0D2648"/>
                </a:solidFill>
                <a:latin typeface="Muli"/>
                <a:ea typeface="Muli"/>
                <a:cs typeface="Muli"/>
                <a:sym typeface="Muli"/>
              </a:rPr>
              <a:t>Đánh dấu bất động sản quan tâm, CMS soạn thảo tin tức thị trường an toàn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CFE"/>
        </a:solidFill>
      </p:bgPr>
    </p:bg>
    <p:spTree>
      <p:nvGrpSpPr>
        <p:cNvPr id="1" name=""/>
        <p:cNvGrpSpPr/>
        <p:nvPr/>
      </p:nvGrpSpPr>
      <p:grpSpPr>
        <a:xfrm>
          <a:off x="0" y="0"/>
          <a:ext cx="0" cy="0"/>
          <a:chOff x="0" y="0"/>
          <a:chExt cx="0" cy="0"/>
        </a:xfrm>
      </p:grpSpPr>
      <p:grpSp>
        <p:nvGrpSpPr>
          <p:cNvPr name="Group 2" id="2"/>
          <p:cNvGrpSpPr/>
          <p:nvPr/>
        </p:nvGrpSpPr>
        <p:grpSpPr>
          <a:xfrm rot="0">
            <a:off x="-9712745" y="1716788"/>
            <a:ext cx="18526227" cy="18206396"/>
            <a:chOff x="0" y="0"/>
            <a:chExt cx="24701635" cy="24275194"/>
          </a:xfrm>
        </p:grpSpPr>
        <p:grpSp>
          <p:nvGrpSpPr>
            <p:cNvPr name="Group 3" id="3"/>
            <p:cNvGrpSpPr/>
            <p:nvPr/>
          </p:nvGrpSpPr>
          <p:grpSpPr>
            <a:xfrm rot="-9429521">
              <a:off x="3146270" y="9499417"/>
              <a:ext cx="20345509" cy="10343491"/>
              <a:chOff x="0" y="0"/>
              <a:chExt cx="2428403" cy="1234580"/>
            </a:xfrm>
          </p:grpSpPr>
          <p:sp>
            <p:nvSpPr>
              <p:cNvPr name="Freeform 4" id="4"/>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name="TextBox 5" id="5"/>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6" id="6"/>
            <p:cNvGrpSpPr/>
            <p:nvPr/>
          </p:nvGrpSpPr>
          <p:grpSpPr>
            <a:xfrm rot="-5490957">
              <a:off x="1752702" y="10352345"/>
              <a:ext cx="21000330" cy="1577296"/>
              <a:chOff x="0" y="0"/>
              <a:chExt cx="2061456" cy="154832"/>
            </a:xfrm>
          </p:grpSpPr>
          <p:sp>
            <p:nvSpPr>
              <p:cNvPr name="Freeform 7" id="7"/>
              <p:cNvSpPr/>
              <p:nvPr/>
            </p:nvSpPr>
            <p:spPr>
              <a:xfrm flipH="false" flipV="false" rot="0">
                <a:off x="0" y="0"/>
                <a:ext cx="2061456" cy="154832"/>
              </a:xfrm>
              <a:custGeom>
                <a:avLst/>
                <a:gdLst/>
                <a:ahLst/>
                <a:cxnLst/>
                <a:rect r="r" b="b" t="t" l="l"/>
                <a:pathLst>
                  <a:path h="154832" w="2061456">
                    <a:moveTo>
                      <a:pt x="230188" y="0"/>
                    </a:moveTo>
                    <a:lnTo>
                      <a:pt x="2061456" y="0"/>
                    </a:lnTo>
                    <a:lnTo>
                      <a:pt x="1831268" y="154832"/>
                    </a:lnTo>
                    <a:lnTo>
                      <a:pt x="0" y="154832"/>
                    </a:lnTo>
                    <a:lnTo>
                      <a:pt x="230188" y="0"/>
                    </a:lnTo>
                    <a:close/>
                  </a:path>
                </a:pathLst>
              </a:custGeom>
              <a:solidFill>
                <a:srgbClr val="3199CE">
                  <a:alpha val="43922"/>
                </a:srgbClr>
              </a:solidFill>
            </p:spPr>
          </p:sp>
          <p:sp>
            <p:nvSpPr>
              <p:cNvPr name="TextBox 8" id="8"/>
              <p:cNvSpPr txBox="true"/>
              <p:nvPr/>
            </p:nvSpPr>
            <p:spPr>
              <a:xfrm>
                <a:off x="254000" y="-38100"/>
                <a:ext cx="1553456" cy="192932"/>
              </a:xfrm>
              <a:prstGeom prst="rect">
                <a:avLst/>
              </a:prstGeom>
            </p:spPr>
            <p:txBody>
              <a:bodyPr anchor="ctr" rtlCol="false" tIns="65680" lIns="65680" bIns="65680" rIns="65680"/>
              <a:lstStyle/>
              <a:p>
                <a:pPr algn="ctr">
                  <a:lnSpc>
                    <a:spcPts val="2659"/>
                  </a:lnSpc>
                </a:pPr>
              </a:p>
            </p:txBody>
          </p:sp>
        </p:grpSp>
        <p:grpSp>
          <p:nvGrpSpPr>
            <p:cNvPr name="Group 9" id="9"/>
            <p:cNvGrpSpPr/>
            <p:nvPr/>
          </p:nvGrpSpPr>
          <p:grpSpPr>
            <a:xfrm rot="-8275618">
              <a:off x="843863" y="8118880"/>
              <a:ext cx="20345509" cy="10343491"/>
              <a:chOff x="0" y="0"/>
              <a:chExt cx="2428403" cy="1234580"/>
            </a:xfrm>
          </p:grpSpPr>
          <p:sp>
            <p:nvSpPr>
              <p:cNvPr name="Freeform 10" id="10"/>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175DBD">
                  <a:alpha val="32941"/>
                </a:srgbClr>
              </a:solidFill>
            </p:spPr>
          </p:sp>
          <p:sp>
            <p:nvSpPr>
              <p:cNvPr name="TextBox 11" id="11"/>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12" id="12"/>
            <p:cNvGrpSpPr/>
            <p:nvPr/>
          </p:nvGrpSpPr>
          <p:grpSpPr>
            <a:xfrm rot="-9137466">
              <a:off x="2080113" y="8966468"/>
              <a:ext cx="20345509" cy="10343491"/>
              <a:chOff x="0" y="0"/>
              <a:chExt cx="2428403" cy="1234580"/>
            </a:xfrm>
          </p:grpSpPr>
          <p:sp>
            <p:nvSpPr>
              <p:cNvPr name="Freeform 13" id="13"/>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3199CE">
                  <a:alpha val="32941"/>
                </a:srgbClr>
              </a:solidFill>
            </p:spPr>
          </p:sp>
          <p:sp>
            <p:nvSpPr>
              <p:cNvPr name="TextBox 14" id="14"/>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15" id="15"/>
            <p:cNvGrpSpPr/>
            <p:nvPr/>
          </p:nvGrpSpPr>
          <p:grpSpPr>
            <a:xfrm rot="-7039264">
              <a:off x="-66918" y="6863571"/>
              <a:ext cx="20345509" cy="10343491"/>
              <a:chOff x="0" y="0"/>
              <a:chExt cx="2428403" cy="1234580"/>
            </a:xfrm>
          </p:grpSpPr>
          <p:sp>
            <p:nvSpPr>
              <p:cNvPr name="Freeform 16" id="16"/>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name="TextBox 17" id="17"/>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18" id="18"/>
            <p:cNvGrpSpPr/>
            <p:nvPr/>
          </p:nvGrpSpPr>
          <p:grpSpPr>
            <a:xfrm rot="-6073135">
              <a:off x="-2947544" y="6965852"/>
              <a:ext cx="22696491" cy="10343491"/>
              <a:chOff x="0" y="0"/>
              <a:chExt cx="2709012" cy="1234580"/>
            </a:xfrm>
          </p:grpSpPr>
          <p:sp>
            <p:nvSpPr>
              <p:cNvPr name="Freeform 19" id="19"/>
              <p:cNvSpPr/>
              <p:nvPr/>
            </p:nvSpPr>
            <p:spPr>
              <a:xfrm flipH="false" flipV="false" rot="0">
                <a:off x="0" y="0"/>
                <a:ext cx="2709012" cy="1234580"/>
              </a:xfrm>
              <a:custGeom>
                <a:avLst/>
                <a:gdLst/>
                <a:ahLst/>
                <a:cxnLst/>
                <a:rect r="r" b="b" t="t" l="l"/>
                <a:pathLst>
                  <a:path h="1234580" w="2709012">
                    <a:moveTo>
                      <a:pt x="8883" y="0"/>
                    </a:moveTo>
                    <a:lnTo>
                      <a:pt x="2700129" y="0"/>
                    </a:lnTo>
                    <a:cubicBezTo>
                      <a:pt x="2702485" y="0"/>
                      <a:pt x="2704745" y="936"/>
                      <a:pt x="2706411" y="2602"/>
                    </a:cubicBezTo>
                    <a:cubicBezTo>
                      <a:pt x="2708077" y="4268"/>
                      <a:pt x="2709012" y="6527"/>
                      <a:pt x="2709012" y="8883"/>
                    </a:cubicBezTo>
                    <a:lnTo>
                      <a:pt x="2709012" y="1225697"/>
                    </a:lnTo>
                    <a:cubicBezTo>
                      <a:pt x="2709012" y="1228053"/>
                      <a:pt x="2708077" y="1230313"/>
                      <a:pt x="2706411" y="1231979"/>
                    </a:cubicBezTo>
                    <a:cubicBezTo>
                      <a:pt x="2704745" y="1233645"/>
                      <a:pt x="2702485" y="1234580"/>
                      <a:pt x="2700129" y="1234580"/>
                    </a:cubicBezTo>
                    <a:lnTo>
                      <a:pt x="8883" y="1234580"/>
                    </a:lnTo>
                    <a:cubicBezTo>
                      <a:pt x="6527" y="1234580"/>
                      <a:pt x="4268" y="1233645"/>
                      <a:pt x="2602" y="1231979"/>
                    </a:cubicBezTo>
                    <a:cubicBezTo>
                      <a:pt x="936" y="1230313"/>
                      <a:pt x="0" y="1228053"/>
                      <a:pt x="0" y="1225697"/>
                    </a:cubicBezTo>
                    <a:lnTo>
                      <a:pt x="0" y="8883"/>
                    </a:lnTo>
                    <a:cubicBezTo>
                      <a:pt x="0" y="6527"/>
                      <a:pt x="936" y="4268"/>
                      <a:pt x="2602" y="2602"/>
                    </a:cubicBezTo>
                    <a:cubicBezTo>
                      <a:pt x="4268" y="936"/>
                      <a:pt x="6527" y="0"/>
                      <a:pt x="8883" y="0"/>
                    </a:cubicBezTo>
                    <a:close/>
                  </a:path>
                </a:pathLst>
              </a:custGeom>
              <a:solidFill>
                <a:srgbClr val="175DBD">
                  <a:alpha val="11765"/>
                </a:srgbClr>
              </a:solidFill>
            </p:spPr>
          </p:sp>
          <p:sp>
            <p:nvSpPr>
              <p:cNvPr name="TextBox 20" id="20"/>
              <p:cNvSpPr txBox="true"/>
              <p:nvPr/>
            </p:nvSpPr>
            <p:spPr>
              <a:xfrm>
                <a:off x="0" y="-38100"/>
                <a:ext cx="2709012" cy="1272680"/>
              </a:xfrm>
              <a:prstGeom prst="rect">
                <a:avLst/>
              </a:prstGeom>
            </p:spPr>
            <p:txBody>
              <a:bodyPr anchor="ctr" rtlCol="false" tIns="65680" lIns="65680" bIns="65680" rIns="65680"/>
              <a:lstStyle/>
              <a:p>
                <a:pPr algn="ctr">
                  <a:lnSpc>
                    <a:spcPts val="2659"/>
                  </a:lnSpc>
                </a:pPr>
              </a:p>
            </p:txBody>
          </p:sp>
        </p:grpSp>
      </p:grpSp>
      <p:grpSp>
        <p:nvGrpSpPr>
          <p:cNvPr name="Group 21" id="21"/>
          <p:cNvGrpSpPr/>
          <p:nvPr/>
        </p:nvGrpSpPr>
        <p:grpSpPr>
          <a:xfrm rot="0">
            <a:off x="9474518" y="-9636184"/>
            <a:ext cx="18526227" cy="18206396"/>
            <a:chOff x="0" y="0"/>
            <a:chExt cx="24701635" cy="24275194"/>
          </a:xfrm>
        </p:grpSpPr>
        <p:grpSp>
          <p:nvGrpSpPr>
            <p:cNvPr name="Group 22" id="22"/>
            <p:cNvGrpSpPr/>
            <p:nvPr/>
          </p:nvGrpSpPr>
          <p:grpSpPr>
            <a:xfrm rot="1370478">
              <a:off x="1209857" y="4432286"/>
              <a:ext cx="20345509" cy="10343491"/>
              <a:chOff x="0" y="0"/>
              <a:chExt cx="2428403" cy="1234580"/>
            </a:xfrm>
          </p:grpSpPr>
          <p:sp>
            <p:nvSpPr>
              <p:cNvPr name="Freeform 23" id="23"/>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name="TextBox 24" id="24"/>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25" id="25"/>
            <p:cNvGrpSpPr/>
            <p:nvPr/>
          </p:nvGrpSpPr>
          <p:grpSpPr>
            <a:xfrm rot="5309042">
              <a:off x="1948604" y="12345553"/>
              <a:ext cx="21000330" cy="1577296"/>
              <a:chOff x="0" y="0"/>
              <a:chExt cx="2061456" cy="154832"/>
            </a:xfrm>
          </p:grpSpPr>
          <p:sp>
            <p:nvSpPr>
              <p:cNvPr name="Freeform 26" id="26"/>
              <p:cNvSpPr/>
              <p:nvPr/>
            </p:nvSpPr>
            <p:spPr>
              <a:xfrm flipH="false" flipV="false" rot="0">
                <a:off x="0" y="0"/>
                <a:ext cx="2061456" cy="154832"/>
              </a:xfrm>
              <a:custGeom>
                <a:avLst/>
                <a:gdLst/>
                <a:ahLst/>
                <a:cxnLst/>
                <a:rect r="r" b="b" t="t" l="l"/>
                <a:pathLst>
                  <a:path h="154832" w="2061456">
                    <a:moveTo>
                      <a:pt x="230188" y="0"/>
                    </a:moveTo>
                    <a:lnTo>
                      <a:pt x="2061456" y="0"/>
                    </a:lnTo>
                    <a:lnTo>
                      <a:pt x="1831268" y="154832"/>
                    </a:lnTo>
                    <a:lnTo>
                      <a:pt x="0" y="154832"/>
                    </a:lnTo>
                    <a:lnTo>
                      <a:pt x="230188" y="0"/>
                    </a:lnTo>
                    <a:close/>
                  </a:path>
                </a:pathLst>
              </a:custGeom>
              <a:solidFill>
                <a:srgbClr val="3199CE">
                  <a:alpha val="43922"/>
                </a:srgbClr>
              </a:solidFill>
            </p:spPr>
          </p:sp>
          <p:sp>
            <p:nvSpPr>
              <p:cNvPr name="TextBox 27" id="27"/>
              <p:cNvSpPr txBox="true"/>
              <p:nvPr/>
            </p:nvSpPr>
            <p:spPr>
              <a:xfrm>
                <a:off x="254000" y="-38100"/>
                <a:ext cx="1553456" cy="192932"/>
              </a:xfrm>
              <a:prstGeom prst="rect">
                <a:avLst/>
              </a:prstGeom>
            </p:spPr>
            <p:txBody>
              <a:bodyPr anchor="ctr" rtlCol="false" tIns="65680" lIns="65680" bIns="65680" rIns="65680"/>
              <a:lstStyle/>
              <a:p>
                <a:pPr algn="ctr">
                  <a:lnSpc>
                    <a:spcPts val="2659"/>
                  </a:lnSpc>
                </a:pPr>
              </a:p>
            </p:txBody>
          </p:sp>
        </p:grpSp>
        <p:grpSp>
          <p:nvGrpSpPr>
            <p:cNvPr name="Group 28" id="28"/>
            <p:cNvGrpSpPr/>
            <p:nvPr/>
          </p:nvGrpSpPr>
          <p:grpSpPr>
            <a:xfrm rot="2524381">
              <a:off x="3512264" y="5812823"/>
              <a:ext cx="20345509" cy="10343491"/>
              <a:chOff x="0" y="0"/>
              <a:chExt cx="2428403" cy="1234580"/>
            </a:xfrm>
          </p:grpSpPr>
          <p:sp>
            <p:nvSpPr>
              <p:cNvPr name="Freeform 29" id="29"/>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175DBD">
                  <a:alpha val="32941"/>
                </a:srgbClr>
              </a:solidFill>
            </p:spPr>
          </p:sp>
          <p:sp>
            <p:nvSpPr>
              <p:cNvPr name="TextBox 30" id="30"/>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31" id="31"/>
            <p:cNvGrpSpPr/>
            <p:nvPr/>
          </p:nvGrpSpPr>
          <p:grpSpPr>
            <a:xfrm rot="1662533">
              <a:off x="2276014" y="4965235"/>
              <a:ext cx="20345509" cy="10343491"/>
              <a:chOff x="0" y="0"/>
              <a:chExt cx="2428403" cy="1234580"/>
            </a:xfrm>
          </p:grpSpPr>
          <p:sp>
            <p:nvSpPr>
              <p:cNvPr name="Freeform 32" id="32"/>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3199CE">
                  <a:alpha val="32941"/>
                </a:srgbClr>
              </a:solidFill>
            </p:spPr>
          </p:sp>
          <p:sp>
            <p:nvSpPr>
              <p:cNvPr name="TextBox 33" id="33"/>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34" id="34"/>
            <p:cNvGrpSpPr/>
            <p:nvPr/>
          </p:nvGrpSpPr>
          <p:grpSpPr>
            <a:xfrm rot="3760735">
              <a:off x="4423045" y="7068132"/>
              <a:ext cx="20345509" cy="10343491"/>
              <a:chOff x="0" y="0"/>
              <a:chExt cx="2428403" cy="1234580"/>
            </a:xfrm>
          </p:grpSpPr>
          <p:sp>
            <p:nvSpPr>
              <p:cNvPr name="Freeform 35" id="35"/>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name="TextBox 36" id="36"/>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37" id="37"/>
            <p:cNvGrpSpPr/>
            <p:nvPr/>
          </p:nvGrpSpPr>
          <p:grpSpPr>
            <a:xfrm rot="4726864">
              <a:off x="4952688" y="6965852"/>
              <a:ext cx="22696491" cy="10343491"/>
              <a:chOff x="0" y="0"/>
              <a:chExt cx="2709012" cy="1234580"/>
            </a:xfrm>
          </p:grpSpPr>
          <p:sp>
            <p:nvSpPr>
              <p:cNvPr name="Freeform 38" id="38"/>
              <p:cNvSpPr/>
              <p:nvPr/>
            </p:nvSpPr>
            <p:spPr>
              <a:xfrm flipH="false" flipV="false" rot="0">
                <a:off x="0" y="0"/>
                <a:ext cx="2709012" cy="1234580"/>
              </a:xfrm>
              <a:custGeom>
                <a:avLst/>
                <a:gdLst/>
                <a:ahLst/>
                <a:cxnLst/>
                <a:rect r="r" b="b" t="t" l="l"/>
                <a:pathLst>
                  <a:path h="1234580" w="2709012">
                    <a:moveTo>
                      <a:pt x="8883" y="0"/>
                    </a:moveTo>
                    <a:lnTo>
                      <a:pt x="2700129" y="0"/>
                    </a:lnTo>
                    <a:cubicBezTo>
                      <a:pt x="2702485" y="0"/>
                      <a:pt x="2704745" y="936"/>
                      <a:pt x="2706411" y="2602"/>
                    </a:cubicBezTo>
                    <a:cubicBezTo>
                      <a:pt x="2708077" y="4268"/>
                      <a:pt x="2709012" y="6527"/>
                      <a:pt x="2709012" y="8883"/>
                    </a:cubicBezTo>
                    <a:lnTo>
                      <a:pt x="2709012" y="1225697"/>
                    </a:lnTo>
                    <a:cubicBezTo>
                      <a:pt x="2709012" y="1228053"/>
                      <a:pt x="2708077" y="1230313"/>
                      <a:pt x="2706411" y="1231979"/>
                    </a:cubicBezTo>
                    <a:cubicBezTo>
                      <a:pt x="2704745" y="1233645"/>
                      <a:pt x="2702485" y="1234580"/>
                      <a:pt x="2700129" y="1234580"/>
                    </a:cubicBezTo>
                    <a:lnTo>
                      <a:pt x="8883" y="1234580"/>
                    </a:lnTo>
                    <a:cubicBezTo>
                      <a:pt x="6527" y="1234580"/>
                      <a:pt x="4268" y="1233645"/>
                      <a:pt x="2602" y="1231979"/>
                    </a:cubicBezTo>
                    <a:cubicBezTo>
                      <a:pt x="936" y="1230313"/>
                      <a:pt x="0" y="1228053"/>
                      <a:pt x="0" y="1225697"/>
                    </a:cubicBezTo>
                    <a:lnTo>
                      <a:pt x="0" y="8883"/>
                    </a:lnTo>
                    <a:cubicBezTo>
                      <a:pt x="0" y="6527"/>
                      <a:pt x="936" y="4268"/>
                      <a:pt x="2602" y="2602"/>
                    </a:cubicBezTo>
                    <a:cubicBezTo>
                      <a:pt x="4268" y="936"/>
                      <a:pt x="6527" y="0"/>
                      <a:pt x="8883" y="0"/>
                    </a:cubicBezTo>
                    <a:close/>
                  </a:path>
                </a:pathLst>
              </a:custGeom>
              <a:solidFill>
                <a:srgbClr val="175DBD">
                  <a:alpha val="11765"/>
                </a:srgbClr>
              </a:solidFill>
            </p:spPr>
          </p:sp>
          <p:sp>
            <p:nvSpPr>
              <p:cNvPr name="TextBox 39" id="39"/>
              <p:cNvSpPr txBox="true"/>
              <p:nvPr/>
            </p:nvSpPr>
            <p:spPr>
              <a:xfrm>
                <a:off x="0" y="-38100"/>
                <a:ext cx="2709012" cy="1272680"/>
              </a:xfrm>
              <a:prstGeom prst="rect">
                <a:avLst/>
              </a:prstGeom>
            </p:spPr>
            <p:txBody>
              <a:bodyPr anchor="ctr" rtlCol="false" tIns="65680" lIns="65680" bIns="65680" rIns="65680"/>
              <a:lstStyle/>
              <a:p>
                <a:pPr algn="ctr">
                  <a:lnSpc>
                    <a:spcPts val="2659"/>
                  </a:lnSpc>
                </a:pPr>
              </a:p>
            </p:txBody>
          </p:sp>
        </p:grpSp>
      </p:grpSp>
      <p:sp>
        <p:nvSpPr>
          <p:cNvPr name="Freeform 40" id="40"/>
          <p:cNvSpPr/>
          <p:nvPr/>
        </p:nvSpPr>
        <p:spPr>
          <a:xfrm flipH="true" flipV="false" rot="0">
            <a:off x="13332174" y="8570212"/>
            <a:ext cx="7315200" cy="2958662"/>
          </a:xfrm>
          <a:custGeom>
            <a:avLst/>
            <a:gdLst/>
            <a:ahLst/>
            <a:cxnLst/>
            <a:rect r="r" b="b" t="t" l="l"/>
            <a:pathLst>
              <a:path h="2958662" w="7315200">
                <a:moveTo>
                  <a:pt x="7315200" y="0"/>
                </a:moveTo>
                <a:lnTo>
                  <a:pt x="0" y="0"/>
                </a:lnTo>
                <a:lnTo>
                  <a:pt x="0" y="2958662"/>
                </a:lnTo>
                <a:lnTo>
                  <a:pt x="7315200" y="2958662"/>
                </a:lnTo>
                <a:lnTo>
                  <a:pt x="7315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1" id="41"/>
          <p:cNvSpPr/>
          <p:nvPr/>
        </p:nvSpPr>
        <p:spPr>
          <a:xfrm flipH="false" flipV="true" rot="0">
            <a:off x="-2359374" y="-1241874"/>
            <a:ext cx="7315200" cy="2958662"/>
          </a:xfrm>
          <a:custGeom>
            <a:avLst/>
            <a:gdLst/>
            <a:ahLst/>
            <a:cxnLst/>
            <a:rect r="r" b="b" t="t" l="l"/>
            <a:pathLst>
              <a:path h="2958662" w="7315200">
                <a:moveTo>
                  <a:pt x="0" y="2958662"/>
                </a:moveTo>
                <a:lnTo>
                  <a:pt x="7315200" y="2958662"/>
                </a:lnTo>
                <a:lnTo>
                  <a:pt x="7315200" y="0"/>
                </a:lnTo>
                <a:lnTo>
                  <a:pt x="0" y="0"/>
                </a:lnTo>
                <a:lnTo>
                  <a:pt x="0" y="29586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2" id="42"/>
          <p:cNvSpPr txBox="true"/>
          <p:nvPr/>
        </p:nvSpPr>
        <p:spPr>
          <a:xfrm rot="0">
            <a:off x="1590971" y="1621538"/>
            <a:ext cx="15106057" cy="894073"/>
          </a:xfrm>
          <a:prstGeom prst="rect">
            <a:avLst/>
          </a:prstGeom>
        </p:spPr>
        <p:txBody>
          <a:bodyPr anchor="t" rtlCol="false" tIns="0" lIns="0" bIns="0" rIns="0">
            <a:spAutoFit/>
          </a:bodyPr>
          <a:lstStyle/>
          <a:p>
            <a:pPr algn="l" marL="0" indent="0" lvl="0">
              <a:lnSpc>
                <a:spcPts val="7420"/>
              </a:lnSpc>
              <a:spcBef>
                <a:spcPct val="0"/>
              </a:spcBef>
            </a:pPr>
            <a:r>
              <a:rPr lang="en-US" b="true" sz="5300">
                <a:solidFill>
                  <a:srgbClr val="113E7A"/>
                </a:solidFill>
                <a:latin typeface="Muli Bold"/>
                <a:ea typeface="Muli Bold"/>
                <a:cs typeface="Muli Bold"/>
                <a:sym typeface="Muli Bold"/>
              </a:rPr>
              <a:t>4.1 Xác thực</a:t>
            </a:r>
            <a:r>
              <a:rPr lang="en-US" b="true" sz="5300">
                <a:solidFill>
                  <a:srgbClr val="113E7A"/>
                </a:solidFill>
                <a:latin typeface="Muli Bold"/>
                <a:ea typeface="Muli Bold"/>
                <a:cs typeface="Muli Bold"/>
                <a:sym typeface="Muli Bold"/>
              </a:rPr>
              <a:t>, tin đăng, danh mục &amp; hình ảnh</a:t>
            </a:r>
          </a:p>
        </p:txBody>
      </p:sp>
      <p:sp>
        <p:nvSpPr>
          <p:cNvPr name="TextBox 43" id="43"/>
          <p:cNvSpPr txBox="true"/>
          <p:nvPr/>
        </p:nvSpPr>
        <p:spPr>
          <a:xfrm rot="0">
            <a:off x="2251045" y="4008120"/>
            <a:ext cx="10633868" cy="2389505"/>
          </a:xfrm>
          <a:prstGeom prst="rect">
            <a:avLst/>
          </a:prstGeom>
        </p:spPr>
        <p:txBody>
          <a:bodyPr anchor="t" rtlCol="false" tIns="0" lIns="0" bIns="0" rIns="0">
            <a:spAutoFit/>
          </a:bodyPr>
          <a:lstStyle/>
          <a:p>
            <a:pPr algn="l">
              <a:lnSpc>
                <a:spcPts val="3219"/>
              </a:lnSpc>
            </a:pPr>
            <a:r>
              <a:rPr lang="en-US" sz="2299" b="true">
                <a:solidFill>
                  <a:srgbClr val="0D2648"/>
                </a:solidFill>
                <a:latin typeface="Muli Bold"/>
                <a:ea typeface="Muli Bold"/>
                <a:cs typeface="Muli Bold"/>
                <a:sym typeface="Muli Bold"/>
              </a:rPr>
              <a:t>Luồng thao tác:</a:t>
            </a:r>
          </a:p>
          <a:p>
            <a:pPr algn="l" marL="496569" indent="-248284" lvl="1">
              <a:lnSpc>
                <a:spcPts val="3219"/>
              </a:lnSpc>
              <a:buFont typeface="Arial"/>
              <a:buChar char="•"/>
            </a:pPr>
            <a:r>
              <a:rPr lang="en-US" sz="2299">
                <a:solidFill>
                  <a:srgbClr val="0D2648"/>
                </a:solidFill>
                <a:latin typeface="Muli"/>
                <a:ea typeface="Muli"/>
                <a:cs typeface="Muli"/>
                <a:sym typeface="Muli"/>
              </a:rPr>
              <a:t>Đăng nhập tài khoản thường → Nhận và lưu JWT</a:t>
            </a:r>
          </a:p>
          <a:p>
            <a:pPr algn="l" marL="496569" indent="-248284" lvl="1">
              <a:lnSpc>
                <a:spcPts val="3219"/>
              </a:lnSpc>
              <a:buFont typeface="Arial"/>
              <a:buChar char="•"/>
            </a:pPr>
            <a:r>
              <a:rPr lang="en-US" sz="2299">
                <a:solidFill>
                  <a:srgbClr val="0D2648"/>
                </a:solidFill>
                <a:latin typeface="Muli"/>
                <a:ea typeface="Muli"/>
                <a:cs typeface="Muli"/>
                <a:sym typeface="Muli"/>
              </a:rPr>
              <a:t>Tìm kiếm &amp; lọc đa tiêu chí (giá, diện tích, địa giới cũ/mới)</a:t>
            </a:r>
          </a:p>
          <a:p>
            <a:pPr algn="l" marL="496569" indent="-248284" lvl="1">
              <a:lnSpc>
                <a:spcPts val="3219"/>
              </a:lnSpc>
              <a:buFont typeface="Arial"/>
              <a:buChar char="•"/>
            </a:pPr>
            <a:r>
              <a:rPr lang="en-US" sz="2299">
                <a:solidFill>
                  <a:srgbClr val="0D2648"/>
                </a:solidFill>
                <a:latin typeface="Muli"/>
                <a:ea typeface="Muli"/>
                <a:cs typeface="Muli"/>
                <a:sym typeface="Muli"/>
              </a:rPr>
              <a:t>Sửa tin đã duyệt → Tạo bản chờ duyệt</a:t>
            </a:r>
          </a:p>
          <a:p>
            <a:pPr algn="l" marL="496569" indent="-248284" lvl="1">
              <a:lnSpc>
                <a:spcPts val="3219"/>
              </a:lnSpc>
              <a:buFont typeface="Arial"/>
              <a:buChar char="•"/>
            </a:pPr>
            <a:r>
              <a:rPr lang="en-US" sz="2299">
                <a:solidFill>
                  <a:srgbClr val="0D2648"/>
                </a:solidFill>
                <a:latin typeface="Muli"/>
                <a:ea typeface="Muli"/>
                <a:cs typeface="Muli"/>
                <a:sym typeface="Muli"/>
              </a:rPr>
              <a:t>Kiểm tra cửa sổ ẩn danh (tin công khai không đổi) → Hủy bản sửa</a:t>
            </a:r>
          </a:p>
          <a:p>
            <a:pPr algn="l" marL="496569" indent="-248284" lvl="1">
              <a:lnSpc>
                <a:spcPts val="3219"/>
              </a:lnSpc>
              <a:buFont typeface="Arial"/>
              <a:buChar char="•"/>
            </a:pPr>
            <a:r>
              <a:rPr lang="en-US" sz="2299">
                <a:solidFill>
                  <a:srgbClr val="0D2648"/>
                </a:solidFill>
                <a:latin typeface="Muli"/>
                <a:ea typeface="Muli"/>
                <a:cs typeface="Muli"/>
                <a:sym typeface="Muli"/>
              </a:rPr>
              <a:t>Tải ảnh trực tiếp lên Object Storage MinIO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CFE"/>
        </a:solidFill>
      </p:bgPr>
    </p:bg>
    <p:spTree>
      <p:nvGrpSpPr>
        <p:cNvPr id="1" name=""/>
        <p:cNvGrpSpPr/>
        <p:nvPr/>
      </p:nvGrpSpPr>
      <p:grpSpPr>
        <a:xfrm>
          <a:off x="0" y="0"/>
          <a:ext cx="0" cy="0"/>
          <a:chOff x="0" y="0"/>
          <a:chExt cx="0" cy="0"/>
        </a:xfrm>
      </p:grpSpPr>
      <p:grpSp>
        <p:nvGrpSpPr>
          <p:cNvPr name="Group 2" id="2"/>
          <p:cNvGrpSpPr/>
          <p:nvPr/>
        </p:nvGrpSpPr>
        <p:grpSpPr>
          <a:xfrm rot="0">
            <a:off x="-7414507" y="-6721593"/>
            <a:ext cx="14081576" cy="14328946"/>
            <a:chOff x="0" y="0"/>
            <a:chExt cx="18775435" cy="19105262"/>
          </a:xfrm>
        </p:grpSpPr>
        <p:grpSp>
          <p:nvGrpSpPr>
            <p:cNvPr name="Group 3" id="3"/>
            <p:cNvGrpSpPr/>
            <p:nvPr/>
          </p:nvGrpSpPr>
          <p:grpSpPr>
            <a:xfrm rot="-4029521">
              <a:off x="-439874" y="6301441"/>
              <a:ext cx="15736054" cy="8000082"/>
              <a:chOff x="0" y="0"/>
              <a:chExt cx="2428403" cy="1234580"/>
            </a:xfrm>
          </p:grpSpPr>
          <p:sp>
            <p:nvSpPr>
              <p:cNvPr name="Freeform 4" id="4"/>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5" id="5"/>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90957">
              <a:off x="2037272" y="8866899"/>
              <a:ext cx="16242519" cy="1219946"/>
              <a:chOff x="0" y="0"/>
              <a:chExt cx="2061456" cy="154832"/>
            </a:xfrm>
          </p:grpSpPr>
          <p:sp>
            <p:nvSpPr>
              <p:cNvPr name="Freeform 7" id="7"/>
              <p:cNvSpPr/>
              <p:nvPr/>
            </p:nvSpPr>
            <p:spPr>
              <a:xfrm flipH="false" flipV="false" rot="0">
                <a:off x="0" y="0"/>
                <a:ext cx="2061456" cy="154832"/>
              </a:xfrm>
              <a:custGeom>
                <a:avLst/>
                <a:gdLst/>
                <a:ahLst/>
                <a:cxnLst/>
                <a:rect r="r" b="b" t="t" l="l"/>
                <a:pathLst>
                  <a:path h="154832" w="2061456">
                    <a:moveTo>
                      <a:pt x="230188" y="0"/>
                    </a:moveTo>
                    <a:lnTo>
                      <a:pt x="2061456" y="0"/>
                    </a:lnTo>
                    <a:lnTo>
                      <a:pt x="1831268" y="154832"/>
                    </a:lnTo>
                    <a:lnTo>
                      <a:pt x="0" y="154832"/>
                    </a:lnTo>
                    <a:lnTo>
                      <a:pt x="230188" y="0"/>
                    </a:lnTo>
                    <a:close/>
                  </a:path>
                </a:pathLst>
              </a:custGeom>
              <a:solidFill>
                <a:srgbClr val="3199CE">
                  <a:alpha val="43922"/>
                </a:srgbClr>
              </a:solidFill>
            </p:spPr>
          </p:sp>
          <p:sp>
            <p:nvSpPr>
              <p:cNvPr name="TextBox 8" id="8"/>
              <p:cNvSpPr txBox="true"/>
              <p:nvPr/>
            </p:nvSpPr>
            <p:spPr>
              <a:xfrm>
                <a:off x="254000" y="-38100"/>
                <a:ext cx="1553456" cy="19293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875618">
              <a:off x="627890" y="4520664"/>
              <a:ext cx="15736054" cy="8000082"/>
              <a:chOff x="0" y="0"/>
              <a:chExt cx="2428403" cy="1234580"/>
            </a:xfrm>
          </p:grpSpPr>
          <p:sp>
            <p:nvSpPr>
              <p:cNvPr name="Freeform 10" id="10"/>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2941"/>
                </a:srgbClr>
              </a:solidFill>
            </p:spPr>
          </p:sp>
          <p:sp>
            <p:nvSpPr>
              <p:cNvPr name="TextBox 11" id="11"/>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3737466">
              <a:off x="-27669" y="5476831"/>
              <a:ext cx="15736054" cy="8000082"/>
              <a:chOff x="0" y="0"/>
              <a:chExt cx="2428403" cy="1234580"/>
            </a:xfrm>
          </p:grpSpPr>
          <p:sp>
            <p:nvSpPr>
              <p:cNvPr name="Freeform 13" id="13"/>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name="TextBox 14" id="14"/>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1639264">
              <a:off x="1598798" y="3816229"/>
              <a:ext cx="15736054" cy="8000082"/>
              <a:chOff x="0" y="0"/>
              <a:chExt cx="2428403" cy="1234580"/>
            </a:xfrm>
          </p:grpSpPr>
          <p:sp>
            <p:nvSpPr>
              <p:cNvPr name="Freeform 16" id="16"/>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17" id="17"/>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673135">
              <a:off x="610517" y="2497408"/>
              <a:ext cx="17554400" cy="8000082"/>
              <a:chOff x="0" y="0"/>
              <a:chExt cx="2709012" cy="1234580"/>
            </a:xfrm>
          </p:grpSpPr>
          <p:sp>
            <p:nvSpPr>
              <p:cNvPr name="Freeform 19" id="19"/>
              <p:cNvSpPr/>
              <p:nvPr/>
            </p:nvSpPr>
            <p:spPr>
              <a:xfrm flipH="false" flipV="false" rot="0">
                <a:off x="0" y="0"/>
                <a:ext cx="2709012" cy="1234580"/>
              </a:xfrm>
              <a:custGeom>
                <a:avLst/>
                <a:gdLst/>
                <a:ahLst/>
                <a:cxnLst/>
                <a:rect r="r" b="b" t="t" l="l"/>
                <a:pathLst>
                  <a:path h="1234580" w="2709012">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1765"/>
                </a:srgbClr>
              </a:solidFill>
            </p:spPr>
          </p:sp>
          <p:sp>
            <p:nvSpPr>
              <p:cNvPr name="TextBox 20" id="20"/>
              <p:cNvSpPr txBox="true"/>
              <p:nvPr/>
            </p:nvSpPr>
            <p:spPr>
              <a:xfrm>
                <a:off x="0" y="-38100"/>
                <a:ext cx="2709012" cy="1272680"/>
              </a:xfrm>
              <a:prstGeom prst="rect">
                <a:avLst/>
              </a:prstGeom>
            </p:spPr>
            <p:txBody>
              <a:bodyPr anchor="ctr" rtlCol="false" tIns="50800" lIns="50800" bIns="50800" rIns="50800"/>
              <a:lstStyle/>
              <a:p>
                <a:pPr algn="ctr">
                  <a:lnSpc>
                    <a:spcPts val="2659"/>
                  </a:lnSpc>
                </a:pPr>
              </a:p>
            </p:txBody>
          </p:sp>
        </p:grpSp>
      </p:grpSp>
      <p:grpSp>
        <p:nvGrpSpPr>
          <p:cNvPr name="Group 21" id="21"/>
          <p:cNvGrpSpPr/>
          <p:nvPr/>
        </p:nvGrpSpPr>
        <p:grpSpPr>
          <a:xfrm rot="0">
            <a:off x="11620932" y="2679647"/>
            <a:ext cx="14081576" cy="14328946"/>
            <a:chOff x="0" y="0"/>
            <a:chExt cx="18775435" cy="19105262"/>
          </a:xfrm>
        </p:grpSpPr>
        <p:grpSp>
          <p:nvGrpSpPr>
            <p:cNvPr name="Group 22" id="22"/>
            <p:cNvGrpSpPr/>
            <p:nvPr/>
          </p:nvGrpSpPr>
          <p:grpSpPr>
            <a:xfrm rot="6770478">
              <a:off x="3479254" y="4803740"/>
              <a:ext cx="15736054" cy="8000082"/>
              <a:chOff x="0" y="0"/>
              <a:chExt cx="2428403" cy="1234580"/>
            </a:xfrm>
          </p:grpSpPr>
          <p:sp>
            <p:nvSpPr>
              <p:cNvPr name="Freeform 23" id="23"/>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24" id="24"/>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10709042">
              <a:off x="495643" y="9018417"/>
              <a:ext cx="16242519" cy="1219946"/>
              <a:chOff x="0" y="0"/>
              <a:chExt cx="2061456" cy="154832"/>
            </a:xfrm>
          </p:grpSpPr>
          <p:sp>
            <p:nvSpPr>
              <p:cNvPr name="Freeform 26" id="26"/>
              <p:cNvSpPr/>
              <p:nvPr/>
            </p:nvSpPr>
            <p:spPr>
              <a:xfrm flipH="false" flipV="false" rot="0">
                <a:off x="0" y="0"/>
                <a:ext cx="2061456" cy="154832"/>
              </a:xfrm>
              <a:custGeom>
                <a:avLst/>
                <a:gdLst/>
                <a:ahLst/>
                <a:cxnLst/>
                <a:rect r="r" b="b" t="t" l="l"/>
                <a:pathLst>
                  <a:path h="154832" w="2061456">
                    <a:moveTo>
                      <a:pt x="230188" y="0"/>
                    </a:moveTo>
                    <a:lnTo>
                      <a:pt x="2061456" y="0"/>
                    </a:lnTo>
                    <a:lnTo>
                      <a:pt x="1831268" y="154832"/>
                    </a:lnTo>
                    <a:lnTo>
                      <a:pt x="0" y="154832"/>
                    </a:lnTo>
                    <a:lnTo>
                      <a:pt x="230188" y="0"/>
                    </a:lnTo>
                    <a:close/>
                  </a:path>
                </a:pathLst>
              </a:custGeom>
              <a:solidFill>
                <a:srgbClr val="3199CE">
                  <a:alpha val="43922"/>
                </a:srgbClr>
              </a:solidFill>
            </p:spPr>
          </p:sp>
          <p:sp>
            <p:nvSpPr>
              <p:cNvPr name="TextBox 27" id="27"/>
              <p:cNvSpPr txBox="true"/>
              <p:nvPr/>
            </p:nvSpPr>
            <p:spPr>
              <a:xfrm>
                <a:off x="254000" y="-38100"/>
                <a:ext cx="1553456" cy="192932"/>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7924381">
              <a:off x="2411490" y="6584516"/>
              <a:ext cx="15736054" cy="8000082"/>
              <a:chOff x="0" y="0"/>
              <a:chExt cx="2428403" cy="1234580"/>
            </a:xfrm>
          </p:grpSpPr>
          <p:sp>
            <p:nvSpPr>
              <p:cNvPr name="Freeform 29" id="29"/>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2941"/>
                </a:srgbClr>
              </a:solidFill>
            </p:spPr>
          </p:sp>
          <p:sp>
            <p:nvSpPr>
              <p:cNvPr name="TextBox 30" id="30"/>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7062533">
              <a:off x="3067050" y="5628349"/>
              <a:ext cx="15736054" cy="8000082"/>
              <a:chOff x="0" y="0"/>
              <a:chExt cx="2428403" cy="1234580"/>
            </a:xfrm>
          </p:grpSpPr>
          <p:sp>
            <p:nvSpPr>
              <p:cNvPr name="Freeform 32" id="32"/>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name="TextBox 33" id="33"/>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9160735">
              <a:off x="1440582" y="7288951"/>
              <a:ext cx="15736054" cy="8000082"/>
              <a:chOff x="0" y="0"/>
              <a:chExt cx="2428403" cy="1234580"/>
            </a:xfrm>
          </p:grpSpPr>
          <p:sp>
            <p:nvSpPr>
              <p:cNvPr name="Freeform 35" id="35"/>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36" id="36"/>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10126864">
              <a:off x="610517" y="8607772"/>
              <a:ext cx="17554400" cy="8000082"/>
              <a:chOff x="0" y="0"/>
              <a:chExt cx="2709012" cy="1234580"/>
            </a:xfrm>
          </p:grpSpPr>
          <p:sp>
            <p:nvSpPr>
              <p:cNvPr name="Freeform 38" id="38"/>
              <p:cNvSpPr/>
              <p:nvPr/>
            </p:nvSpPr>
            <p:spPr>
              <a:xfrm flipH="false" flipV="false" rot="0">
                <a:off x="0" y="0"/>
                <a:ext cx="2709012" cy="1234580"/>
              </a:xfrm>
              <a:custGeom>
                <a:avLst/>
                <a:gdLst/>
                <a:ahLst/>
                <a:cxnLst/>
                <a:rect r="r" b="b" t="t" l="l"/>
                <a:pathLst>
                  <a:path h="1234580" w="2709012">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1765"/>
                </a:srgbClr>
              </a:solidFill>
            </p:spPr>
          </p:sp>
          <p:sp>
            <p:nvSpPr>
              <p:cNvPr name="TextBox 39" id="39"/>
              <p:cNvSpPr txBox="true"/>
              <p:nvPr/>
            </p:nvSpPr>
            <p:spPr>
              <a:xfrm>
                <a:off x="0" y="-38100"/>
                <a:ext cx="2709012" cy="1272680"/>
              </a:xfrm>
              <a:prstGeom prst="rect">
                <a:avLst/>
              </a:prstGeom>
            </p:spPr>
            <p:txBody>
              <a:bodyPr anchor="ctr" rtlCol="false" tIns="50800" lIns="50800" bIns="50800" rIns="50800"/>
              <a:lstStyle/>
              <a:p>
                <a:pPr algn="ctr">
                  <a:lnSpc>
                    <a:spcPts val="2659"/>
                  </a:lnSpc>
                </a:pPr>
              </a:p>
            </p:txBody>
          </p:sp>
        </p:grpSp>
      </p:grpSp>
      <p:sp>
        <p:nvSpPr>
          <p:cNvPr name="Freeform 40" id="40"/>
          <p:cNvSpPr/>
          <p:nvPr/>
        </p:nvSpPr>
        <p:spPr>
          <a:xfrm flipH="false" flipV="false" rot="0">
            <a:off x="-1825623" y="8364789"/>
            <a:ext cx="7315200" cy="2958662"/>
          </a:xfrm>
          <a:custGeom>
            <a:avLst/>
            <a:gdLst/>
            <a:ahLst/>
            <a:cxnLst/>
            <a:rect r="r" b="b" t="t" l="l"/>
            <a:pathLst>
              <a:path h="2958662" w="7315200">
                <a:moveTo>
                  <a:pt x="0" y="0"/>
                </a:moveTo>
                <a:lnTo>
                  <a:pt x="7315200" y="0"/>
                </a:lnTo>
                <a:lnTo>
                  <a:pt x="7315200" y="2958662"/>
                </a:lnTo>
                <a:lnTo>
                  <a:pt x="0" y="29586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1" id="41"/>
          <p:cNvSpPr/>
          <p:nvPr/>
        </p:nvSpPr>
        <p:spPr>
          <a:xfrm flipH="true" flipV="true" rot="0">
            <a:off x="12798423" y="-1036451"/>
            <a:ext cx="7315200" cy="2958662"/>
          </a:xfrm>
          <a:custGeom>
            <a:avLst/>
            <a:gdLst/>
            <a:ahLst/>
            <a:cxnLst/>
            <a:rect r="r" b="b" t="t" l="l"/>
            <a:pathLst>
              <a:path h="2958662" w="7315200">
                <a:moveTo>
                  <a:pt x="7315200" y="2958662"/>
                </a:moveTo>
                <a:lnTo>
                  <a:pt x="0" y="2958662"/>
                </a:lnTo>
                <a:lnTo>
                  <a:pt x="0" y="0"/>
                </a:lnTo>
                <a:lnTo>
                  <a:pt x="7315200" y="0"/>
                </a:lnTo>
                <a:lnTo>
                  <a:pt x="7315200" y="29586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2" id="42"/>
          <p:cNvSpPr txBox="true"/>
          <p:nvPr/>
        </p:nvSpPr>
        <p:spPr>
          <a:xfrm rot="0">
            <a:off x="1984843" y="1532356"/>
            <a:ext cx="14318314" cy="1659248"/>
          </a:xfrm>
          <a:prstGeom prst="rect">
            <a:avLst/>
          </a:prstGeom>
        </p:spPr>
        <p:txBody>
          <a:bodyPr anchor="t" rtlCol="false" tIns="0" lIns="0" bIns="0" rIns="0">
            <a:spAutoFit/>
          </a:bodyPr>
          <a:lstStyle/>
          <a:p>
            <a:pPr algn="l">
              <a:lnSpc>
                <a:spcPts val="6720"/>
              </a:lnSpc>
            </a:pPr>
            <a:r>
              <a:rPr lang="en-US" sz="4800" b="true">
                <a:solidFill>
                  <a:srgbClr val="113E7A"/>
                </a:solidFill>
                <a:latin typeface="Muli Bold"/>
                <a:ea typeface="Muli Bold"/>
                <a:cs typeface="Muli Bold"/>
                <a:sym typeface="Muli Bold"/>
              </a:rPr>
              <a:t>4.2 Quản lý người dùng &amp; Duyệt/khóa/mở khóa tin đăng</a:t>
            </a:r>
          </a:p>
        </p:txBody>
      </p:sp>
      <p:sp>
        <p:nvSpPr>
          <p:cNvPr name="TextBox 43" id="43"/>
          <p:cNvSpPr txBox="true"/>
          <p:nvPr/>
        </p:nvSpPr>
        <p:spPr>
          <a:xfrm rot="0">
            <a:off x="2467288" y="4008120"/>
            <a:ext cx="10633868" cy="2789555"/>
          </a:xfrm>
          <a:prstGeom prst="rect">
            <a:avLst/>
          </a:prstGeom>
        </p:spPr>
        <p:txBody>
          <a:bodyPr anchor="t" rtlCol="false" tIns="0" lIns="0" bIns="0" rIns="0">
            <a:spAutoFit/>
          </a:bodyPr>
          <a:lstStyle/>
          <a:p>
            <a:pPr algn="l">
              <a:lnSpc>
                <a:spcPts val="3219"/>
              </a:lnSpc>
            </a:pPr>
            <a:r>
              <a:rPr lang="en-US" sz="2299" b="true">
                <a:solidFill>
                  <a:srgbClr val="0D2648"/>
                </a:solidFill>
                <a:latin typeface="Muli Bold"/>
                <a:ea typeface="Muli Bold"/>
                <a:cs typeface="Muli Bold"/>
                <a:sym typeface="Muli Bold"/>
              </a:rPr>
              <a:t>Luồng thao tác:</a:t>
            </a:r>
          </a:p>
          <a:p>
            <a:pPr algn="l" marL="496569" indent="-248284" lvl="1">
              <a:lnSpc>
                <a:spcPts val="3219"/>
              </a:lnSpc>
              <a:buFont typeface="Arial"/>
              <a:buChar char="•"/>
            </a:pPr>
            <a:r>
              <a:rPr lang="en-US" sz="2299">
                <a:solidFill>
                  <a:srgbClr val="0D2648"/>
                </a:solidFill>
                <a:latin typeface="Muli"/>
                <a:ea typeface="Muli"/>
                <a:cs typeface="Muli"/>
                <a:sym typeface="Muli"/>
              </a:rPr>
              <a:t>Quản trị viên: Xem danh sách, cập nhật trạng thái / khóa tài khoản</a:t>
            </a:r>
          </a:p>
          <a:p>
            <a:pPr algn="l" marL="496569" indent="-248284" lvl="1">
              <a:lnSpc>
                <a:spcPts val="3219"/>
              </a:lnSpc>
              <a:buFont typeface="Arial"/>
              <a:buChar char="•"/>
            </a:pPr>
            <a:r>
              <a:rPr lang="en-US" sz="2299">
                <a:solidFill>
                  <a:srgbClr val="0D2648"/>
                </a:solidFill>
                <a:latin typeface="Muli"/>
                <a:ea typeface="Muli"/>
                <a:cs typeface="Muli"/>
                <a:sym typeface="Muli"/>
              </a:rPr>
              <a:t>Hàng đợi duyệt tin: Phân loại badge "Tin mới" vs "Chỉnh sửa"</a:t>
            </a:r>
          </a:p>
          <a:p>
            <a:pPr algn="l" marL="496569" indent="-248284" lvl="1">
              <a:lnSpc>
                <a:spcPts val="3219"/>
              </a:lnSpc>
              <a:buFont typeface="Arial"/>
              <a:buChar char="•"/>
            </a:pPr>
            <a:r>
              <a:rPr lang="en-US" sz="2299">
                <a:solidFill>
                  <a:srgbClr val="0D2648"/>
                </a:solidFill>
                <a:latin typeface="Muli"/>
                <a:ea typeface="Muli"/>
                <a:cs typeface="Muli"/>
                <a:sym typeface="Muli"/>
              </a:rPr>
              <a:t>Xem trước bản chỉnh sửa</a:t>
            </a:r>
            <a:r>
              <a:rPr lang="en-US" sz="2299">
                <a:solidFill>
                  <a:srgbClr val="0D2648"/>
                </a:solidFill>
                <a:latin typeface="Muli"/>
                <a:ea typeface="Muli"/>
                <a:cs typeface="Muli"/>
                <a:sym typeface="Muli"/>
              </a:rPr>
              <a:t>: xem lại nội dung của bản tin chưa đăng công khai</a:t>
            </a:r>
          </a:p>
          <a:p>
            <a:pPr algn="l" marL="496569" indent="-248284" lvl="1">
              <a:lnSpc>
                <a:spcPts val="3219"/>
              </a:lnSpc>
              <a:buFont typeface="Arial"/>
              <a:buChar char="•"/>
            </a:pPr>
            <a:r>
              <a:rPr lang="en-US" sz="2299">
                <a:solidFill>
                  <a:srgbClr val="0D2648"/>
                </a:solidFill>
                <a:latin typeface="Muli"/>
                <a:ea typeface="Muli"/>
                <a:cs typeface="Muli"/>
                <a:sym typeface="Muli"/>
              </a:rPr>
              <a:t>Xử lý Duyệt / Từ chối (ghi đè bản sửa hoặc hủy bản chờ)</a:t>
            </a:r>
          </a:p>
          <a:p>
            <a:pPr algn="l" marL="496569" indent="-248284" lvl="1">
              <a:lnSpc>
                <a:spcPts val="3219"/>
              </a:lnSpc>
              <a:buFont typeface="Arial"/>
              <a:buChar char="•"/>
            </a:pPr>
            <a:r>
              <a:rPr lang="en-US" sz="2299">
                <a:solidFill>
                  <a:srgbClr val="0D2648"/>
                </a:solidFill>
                <a:latin typeface="Muli"/>
                <a:ea typeface="Muli"/>
                <a:cs typeface="Muli"/>
                <a:sym typeface="Muli"/>
              </a:rPr>
              <a:t>Khóa tin vi phạm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CFE"/>
        </a:solidFill>
      </p:bgPr>
    </p:bg>
    <p:spTree>
      <p:nvGrpSpPr>
        <p:cNvPr id="1" name=""/>
        <p:cNvGrpSpPr/>
        <p:nvPr/>
      </p:nvGrpSpPr>
      <p:grpSpPr>
        <a:xfrm>
          <a:off x="0" y="0"/>
          <a:ext cx="0" cy="0"/>
          <a:chOff x="0" y="0"/>
          <a:chExt cx="0" cy="0"/>
        </a:xfrm>
      </p:grpSpPr>
      <p:grpSp>
        <p:nvGrpSpPr>
          <p:cNvPr name="Group 2" id="2"/>
          <p:cNvGrpSpPr/>
          <p:nvPr/>
        </p:nvGrpSpPr>
        <p:grpSpPr>
          <a:xfrm rot="0">
            <a:off x="-9712745" y="1716788"/>
            <a:ext cx="18526227" cy="18206396"/>
            <a:chOff x="0" y="0"/>
            <a:chExt cx="24701635" cy="24275194"/>
          </a:xfrm>
        </p:grpSpPr>
        <p:grpSp>
          <p:nvGrpSpPr>
            <p:cNvPr name="Group 3" id="3"/>
            <p:cNvGrpSpPr/>
            <p:nvPr/>
          </p:nvGrpSpPr>
          <p:grpSpPr>
            <a:xfrm rot="-9429521">
              <a:off x="3146270" y="9499417"/>
              <a:ext cx="20345509" cy="10343491"/>
              <a:chOff x="0" y="0"/>
              <a:chExt cx="2428403" cy="1234580"/>
            </a:xfrm>
          </p:grpSpPr>
          <p:sp>
            <p:nvSpPr>
              <p:cNvPr name="Freeform 4" id="4"/>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name="TextBox 5" id="5"/>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6" id="6"/>
            <p:cNvGrpSpPr/>
            <p:nvPr/>
          </p:nvGrpSpPr>
          <p:grpSpPr>
            <a:xfrm rot="-5490957">
              <a:off x="1752702" y="10352345"/>
              <a:ext cx="21000330" cy="1577296"/>
              <a:chOff x="0" y="0"/>
              <a:chExt cx="2061456" cy="154832"/>
            </a:xfrm>
          </p:grpSpPr>
          <p:sp>
            <p:nvSpPr>
              <p:cNvPr name="Freeform 7" id="7"/>
              <p:cNvSpPr/>
              <p:nvPr/>
            </p:nvSpPr>
            <p:spPr>
              <a:xfrm flipH="false" flipV="false" rot="0">
                <a:off x="0" y="0"/>
                <a:ext cx="2061456" cy="154832"/>
              </a:xfrm>
              <a:custGeom>
                <a:avLst/>
                <a:gdLst/>
                <a:ahLst/>
                <a:cxnLst/>
                <a:rect r="r" b="b" t="t" l="l"/>
                <a:pathLst>
                  <a:path h="154832" w="2061456">
                    <a:moveTo>
                      <a:pt x="230188" y="0"/>
                    </a:moveTo>
                    <a:lnTo>
                      <a:pt x="2061456" y="0"/>
                    </a:lnTo>
                    <a:lnTo>
                      <a:pt x="1831268" y="154832"/>
                    </a:lnTo>
                    <a:lnTo>
                      <a:pt x="0" y="154832"/>
                    </a:lnTo>
                    <a:lnTo>
                      <a:pt x="230188" y="0"/>
                    </a:lnTo>
                    <a:close/>
                  </a:path>
                </a:pathLst>
              </a:custGeom>
              <a:solidFill>
                <a:srgbClr val="3199CE">
                  <a:alpha val="43922"/>
                </a:srgbClr>
              </a:solidFill>
            </p:spPr>
          </p:sp>
          <p:sp>
            <p:nvSpPr>
              <p:cNvPr name="TextBox 8" id="8"/>
              <p:cNvSpPr txBox="true"/>
              <p:nvPr/>
            </p:nvSpPr>
            <p:spPr>
              <a:xfrm>
                <a:off x="254000" y="-38100"/>
                <a:ext cx="1553456" cy="192932"/>
              </a:xfrm>
              <a:prstGeom prst="rect">
                <a:avLst/>
              </a:prstGeom>
            </p:spPr>
            <p:txBody>
              <a:bodyPr anchor="ctr" rtlCol="false" tIns="65680" lIns="65680" bIns="65680" rIns="65680"/>
              <a:lstStyle/>
              <a:p>
                <a:pPr algn="ctr">
                  <a:lnSpc>
                    <a:spcPts val="2659"/>
                  </a:lnSpc>
                </a:pPr>
              </a:p>
            </p:txBody>
          </p:sp>
        </p:grpSp>
        <p:grpSp>
          <p:nvGrpSpPr>
            <p:cNvPr name="Group 9" id="9"/>
            <p:cNvGrpSpPr/>
            <p:nvPr/>
          </p:nvGrpSpPr>
          <p:grpSpPr>
            <a:xfrm rot="-8275618">
              <a:off x="843863" y="8118880"/>
              <a:ext cx="20345509" cy="10343491"/>
              <a:chOff x="0" y="0"/>
              <a:chExt cx="2428403" cy="1234580"/>
            </a:xfrm>
          </p:grpSpPr>
          <p:sp>
            <p:nvSpPr>
              <p:cNvPr name="Freeform 10" id="10"/>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175DBD">
                  <a:alpha val="32941"/>
                </a:srgbClr>
              </a:solidFill>
            </p:spPr>
          </p:sp>
          <p:sp>
            <p:nvSpPr>
              <p:cNvPr name="TextBox 11" id="11"/>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12" id="12"/>
            <p:cNvGrpSpPr/>
            <p:nvPr/>
          </p:nvGrpSpPr>
          <p:grpSpPr>
            <a:xfrm rot="-9137466">
              <a:off x="2080113" y="8966468"/>
              <a:ext cx="20345509" cy="10343491"/>
              <a:chOff x="0" y="0"/>
              <a:chExt cx="2428403" cy="1234580"/>
            </a:xfrm>
          </p:grpSpPr>
          <p:sp>
            <p:nvSpPr>
              <p:cNvPr name="Freeform 13" id="13"/>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3199CE">
                  <a:alpha val="32941"/>
                </a:srgbClr>
              </a:solidFill>
            </p:spPr>
          </p:sp>
          <p:sp>
            <p:nvSpPr>
              <p:cNvPr name="TextBox 14" id="14"/>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15" id="15"/>
            <p:cNvGrpSpPr/>
            <p:nvPr/>
          </p:nvGrpSpPr>
          <p:grpSpPr>
            <a:xfrm rot="-7039264">
              <a:off x="-66918" y="6863571"/>
              <a:ext cx="20345509" cy="10343491"/>
              <a:chOff x="0" y="0"/>
              <a:chExt cx="2428403" cy="1234580"/>
            </a:xfrm>
          </p:grpSpPr>
          <p:sp>
            <p:nvSpPr>
              <p:cNvPr name="Freeform 16" id="16"/>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name="TextBox 17" id="17"/>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18" id="18"/>
            <p:cNvGrpSpPr/>
            <p:nvPr/>
          </p:nvGrpSpPr>
          <p:grpSpPr>
            <a:xfrm rot="-6073135">
              <a:off x="-2947544" y="6965852"/>
              <a:ext cx="22696491" cy="10343491"/>
              <a:chOff x="0" y="0"/>
              <a:chExt cx="2709012" cy="1234580"/>
            </a:xfrm>
          </p:grpSpPr>
          <p:sp>
            <p:nvSpPr>
              <p:cNvPr name="Freeform 19" id="19"/>
              <p:cNvSpPr/>
              <p:nvPr/>
            </p:nvSpPr>
            <p:spPr>
              <a:xfrm flipH="false" flipV="false" rot="0">
                <a:off x="0" y="0"/>
                <a:ext cx="2709012" cy="1234580"/>
              </a:xfrm>
              <a:custGeom>
                <a:avLst/>
                <a:gdLst/>
                <a:ahLst/>
                <a:cxnLst/>
                <a:rect r="r" b="b" t="t" l="l"/>
                <a:pathLst>
                  <a:path h="1234580" w="2709012">
                    <a:moveTo>
                      <a:pt x="8883" y="0"/>
                    </a:moveTo>
                    <a:lnTo>
                      <a:pt x="2700129" y="0"/>
                    </a:lnTo>
                    <a:cubicBezTo>
                      <a:pt x="2702485" y="0"/>
                      <a:pt x="2704745" y="936"/>
                      <a:pt x="2706411" y="2602"/>
                    </a:cubicBezTo>
                    <a:cubicBezTo>
                      <a:pt x="2708077" y="4268"/>
                      <a:pt x="2709012" y="6527"/>
                      <a:pt x="2709012" y="8883"/>
                    </a:cubicBezTo>
                    <a:lnTo>
                      <a:pt x="2709012" y="1225697"/>
                    </a:lnTo>
                    <a:cubicBezTo>
                      <a:pt x="2709012" y="1228053"/>
                      <a:pt x="2708077" y="1230313"/>
                      <a:pt x="2706411" y="1231979"/>
                    </a:cubicBezTo>
                    <a:cubicBezTo>
                      <a:pt x="2704745" y="1233645"/>
                      <a:pt x="2702485" y="1234580"/>
                      <a:pt x="2700129" y="1234580"/>
                    </a:cubicBezTo>
                    <a:lnTo>
                      <a:pt x="8883" y="1234580"/>
                    </a:lnTo>
                    <a:cubicBezTo>
                      <a:pt x="6527" y="1234580"/>
                      <a:pt x="4268" y="1233645"/>
                      <a:pt x="2602" y="1231979"/>
                    </a:cubicBezTo>
                    <a:cubicBezTo>
                      <a:pt x="936" y="1230313"/>
                      <a:pt x="0" y="1228053"/>
                      <a:pt x="0" y="1225697"/>
                    </a:cubicBezTo>
                    <a:lnTo>
                      <a:pt x="0" y="8883"/>
                    </a:lnTo>
                    <a:cubicBezTo>
                      <a:pt x="0" y="6527"/>
                      <a:pt x="936" y="4268"/>
                      <a:pt x="2602" y="2602"/>
                    </a:cubicBezTo>
                    <a:cubicBezTo>
                      <a:pt x="4268" y="936"/>
                      <a:pt x="6527" y="0"/>
                      <a:pt x="8883" y="0"/>
                    </a:cubicBezTo>
                    <a:close/>
                  </a:path>
                </a:pathLst>
              </a:custGeom>
              <a:solidFill>
                <a:srgbClr val="175DBD">
                  <a:alpha val="11765"/>
                </a:srgbClr>
              </a:solidFill>
            </p:spPr>
          </p:sp>
          <p:sp>
            <p:nvSpPr>
              <p:cNvPr name="TextBox 20" id="20"/>
              <p:cNvSpPr txBox="true"/>
              <p:nvPr/>
            </p:nvSpPr>
            <p:spPr>
              <a:xfrm>
                <a:off x="0" y="-38100"/>
                <a:ext cx="2709012" cy="1272680"/>
              </a:xfrm>
              <a:prstGeom prst="rect">
                <a:avLst/>
              </a:prstGeom>
            </p:spPr>
            <p:txBody>
              <a:bodyPr anchor="ctr" rtlCol="false" tIns="65680" lIns="65680" bIns="65680" rIns="65680"/>
              <a:lstStyle/>
              <a:p>
                <a:pPr algn="ctr">
                  <a:lnSpc>
                    <a:spcPts val="2659"/>
                  </a:lnSpc>
                </a:pPr>
              </a:p>
            </p:txBody>
          </p:sp>
        </p:grpSp>
      </p:grpSp>
      <p:grpSp>
        <p:nvGrpSpPr>
          <p:cNvPr name="Group 21" id="21"/>
          <p:cNvGrpSpPr/>
          <p:nvPr/>
        </p:nvGrpSpPr>
        <p:grpSpPr>
          <a:xfrm rot="0">
            <a:off x="9474518" y="-9636184"/>
            <a:ext cx="18526227" cy="18206396"/>
            <a:chOff x="0" y="0"/>
            <a:chExt cx="24701635" cy="24275194"/>
          </a:xfrm>
        </p:grpSpPr>
        <p:grpSp>
          <p:nvGrpSpPr>
            <p:cNvPr name="Group 22" id="22"/>
            <p:cNvGrpSpPr/>
            <p:nvPr/>
          </p:nvGrpSpPr>
          <p:grpSpPr>
            <a:xfrm rot="1370478">
              <a:off x="1209857" y="4432286"/>
              <a:ext cx="20345509" cy="10343491"/>
              <a:chOff x="0" y="0"/>
              <a:chExt cx="2428403" cy="1234580"/>
            </a:xfrm>
          </p:grpSpPr>
          <p:sp>
            <p:nvSpPr>
              <p:cNvPr name="Freeform 23" id="23"/>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name="TextBox 24" id="24"/>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25" id="25"/>
            <p:cNvGrpSpPr/>
            <p:nvPr/>
          </p:nvGrpSpPr>
          <p:grpSpPr>
            <a:xfrm rot="5309042">
              <a:off x="1948604" y="12345553"/>
              <a:ext cx="21000330" cy="1577296"/>
              <a:chOff x="0" y="0"/>
              <a:chExt cx="2061456" cy="154832"/>
            </a:xfrm>
          </p:grpSpPr>
          <p:sp>
            <p:nvSpPr>
              <p:cNvPr name="Freeform 26" id="26"/>
              <p:cNvSpPr/>
              <p:nvPr/>
            </p:nvSpPr>
            <p:spPr>
              <a:xfrm flipH="false" flipV="false" rot="0">
                <a:off x="0" y="0"/>
                <a:ext cx="2061456" cy="154832"/>
              </a:xfrm>
              <a:custGeom>
                <a:avLst/>
                <a:gdLst/>
                <a:ahLst/>
                <a:cxnLst/>
                <a:rect r="r" b="b" t="t" l="l"/>
                <a:pathLst>
                  <a:path h="154832" w="2061456">
                    <a:moveTo>
                      <a:pt x="230188" y="0"/>
                    </a:moveTo>
                    <a:lnTo>
                      <a:pt x="2061456" y="0"/>
                    </a:lnTo>
                    <a:lnTo>
                      <a:pt x="1831268" y="154832"/>
                    </a:lnTo>
                    <a:lnTo>
                      <a:pt x="0" y="154832"/>
                    </a:lnTo>
                    <a:lnTo>
                      <a:pt x="230188" y="0"/>
                    </a:lnTo>
                    <a:close/>
                  </a:path>
                </a:pathLst>
              </a:custGeom>
              <a:solidFill>
                <a:srgbClr val="3199CE">
                  <a:alpha val="43922"/>
                </a:srgbClr>
              </a:solidFill>
            </p:spPr>
          </p:sp>
          <p:sp>
            <p:nvSpPr>
              <p:cNvPr name="TextBox 27" id="27"/>
              <p:cNvSpPr txBox="true"/>
              <p:nvPr/>
            </p:nvSpPr>
            <p:spPr>
              <a:xfrm>
                <a:off x="254000" y="-38100"/>
                <a:ext cx="1553456" cy="192932"/>
              </a:xfrm>
              <a:prstGeom prst="rect">
                <a:avLst/>
              </a:prstGeom>
            </p:spPr>
            <p:txBody>
              <a:bodyPr anchor="ctr" rtlCol="false" tIns="65680" lIns="65680" bIns="65680" rIns="65680"/>
              <a:lstStyle/>
              <a:p>
                <a:pPr algn="ctr">
                  <a:lnSpc>
                    <a:spcPts val="2659"/>
                  </a:lnSpc>
                </a:pPr>
              </a:p>
            </p:txBody>
          </p:sp>
        </p:grpSp>
        <p:grpSp>
          <p:nvGrpSpPr>
            <p:cNvPr name="Group 28" id="28"/>
            <p:cNvGrpSpPr/>
            <p:nvPr/>
          </p:nvGrpSpPr>
          <p:grpSpPr>
            <a:xfrm rot="2524381">
              <a:off x="3512264" y="5812823"/>
              <a:ext cx="20345509" cy="10343491"/>
              <a:chOff x="0" y="0"/>
              <a:chExt cx="2428403" cy="1234580"/>
            </a:xfrm>
          </p:grpSpPr>
          <p:sp>
            <p:nvSpPr>
              <p:cNvPr name="Freeform 29" id="29"/>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175DBD">
                  <a:alpha val="32941"/>
                </a:srgbClr>
              </a:solidFill>
            </p:spPr>
          </p:sp>
          <p:sp>
            <p:nvSpPr>
              <p:cNvPr name="TextBox 30" id="30"/>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31" id="31"/>
            <p:cNvGrpSpPr/>
            <p:nvPr/>
          </p:nvGrpSpPr>
          <p:grpSpPr>
            <a:xfrm rot="1662533">
              <a:off x="2276014" y="4965235"/>
              <a:ext cx="20345509" cy="10343491"/>
              <a:chOff x="0" y="0"/>
              <a:chExt cx="2428403" cy="1234580"/>
            </a:xfrm>
          </p:grpSpPr>
          <p:sp>
            <p:nvSpPr>
              <p:cNvPr name="Freeform 32" id="32"/>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3199CE">
                  <a:alpha val="32941"/>
                </a:srgbClr>
              </a:solidFill>
            </p:spPr>
          </p:sp>
          <p:sp>
            <p:nvSpPr>
              <p:cNvPr name="TextBox 33" id="33"/>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34" id="34"/>
            <p:cNvGrpSpPr/>
            <p:nvPr/>
          </p:nvGrpSpPr>
          <p:grpSpPr>
            <a:xfrm rot="3760735">
              <a:off x="4423045" y="7068132"/>
              <a:ext cx="20345509" cy="10343491"/>
              <a:chOff x="0" y="0"/>
              <a:chExt cx="2428403" cy="1234580"/>
            </a:xfrm>
          </p:grpSpPr>
          <p:sp>
            <p:nvSpPr>
              <p:cNvPr name="Freeform 35" id="35"/>
              <p:cNvSpPr/>
              <p:nvPr/>
            </p:nvSpPr>
            <p:spPr>
              <a:xfrm flipH="false" flipV="false" rot="0">
                <a:off x="0" y="0"/>
                <a:ext cx="2428403" cy="1234580"/>
              </a:xfrm>
              <a:custGeom>
                <a:avLst/>
                <a:gdLst/>
                <a:ahLst/>
                <a:cxnLst/>
                <a:rect r="r" b="b" t="t" l="l"/>
                <a:pathLst>
                  <a:path h="1234580" w="2428403">
                    <a:moveTo>
                      <a:pt x="9909" y="0"/>
                    </a:moveTo>
                    <a:lnTo>
                      <a:pt x="2418494" y="0"/>
                    </a:lnTo>
                    <a:cubicBezTo>
                      <a:pt x="2421122" y="0"/>
                      <a:pt x="2423643" y="1044"/>
                      <a:pt x="2425501" y="2902"/>
                    </a:cubicBezTo>
                    <a:cubicBezTo>
                      <a:pt x="2427359" y="4761"/>
                      <a:pt x="2428403" y="7281"/>
                      <a:pt x="2428403" y="9909"/>
                    </a:cubicBezTo>
                    <a:lnTo>
                      <a:pt x="2428403" y="1224671"/>
                    </a:lnTo>
                    <a:cubicBezTo>
                      <a:pt x="2428403" y="1227299"/>
                      <a:pt x="2427359" y="1229820"/>
                      <a:pt x="2425501" y="1231678"/>
                    </a:cubicBezTo>
                    <a:cubicBezTo>
                      <a:pt x="2423643" y="1233536"/>
                      <a:pt x="2421122" y="1234580"/>
                      <a:pt x="2418494" y="1234580"/>
                    </a:cubicBezTo>
                    <a:lnTo>
                      <a:pt x="9909" y="1234580"/>
                    </a:lnTo>
                    <a:cubicBezTo>
                      <a:pt x="7281" y="1234580"/>
                      <a:pt x="4761" y="1233536"/>
                      <a:pt x="2902" y="1231678"/>
                    </a:cubicBezTo>
                    <a:cubicBezTo>
                      <a:pt x="1044" y="1229820"/>
                      <a:pt x="0" y="1227299"/>
                      <a:pt x="0" y="1224671"/>
                    </a:cubicBezTo>
                    <a:lnTo>
                      <a:pt x="0" y="9909"/>
                    </a:lnTo>
                    <a:cubicBezTo>
                      <a:pt x="0" y="7281"/>
                      <a:pt x="1044" y="4761"/>
                      <a:pt x="2902" y="2902"/>
                    </a:cubicBezTo>
                    <a:cubicBezTo>
                      <a:pt x="4761" y="1044"/>
                      <a:pt x="7281" y="0"/>
                      <a:pt x="9909" y="0"/>
                    </a:cubicBezTo>
                    <a:close/>
                  </a:path>
                </a:pathLst>
              </a:custGeom>
              <a:solidFill>
                <a:srgbClr val="77E8FF">
                  <a:alpha val="32941"/>
                </a:srgbClr>
              </a:solidFill>
            </p:spPr>
          </p:sp>
          <p:sp>
            <p:nvSpPr>
              <p:cNvPr name="TextBox 36" id="36"/>
              <p:cNvSpPr txBox="true"/>
              <p:nvPr/>
            </p:nvSpPr>
            <p:spPr>
              <a:xfrm>
                <a:off x="0" y="-38100"/>
                <a:ext cx="2428403" cy="1272680"/>
              </a:xfrm>
              <a:prstGeom prst="rect">
                <a:avLst/>
              </a:prstGeom>
            </p:spPr>
            <p:txBody>
              <a:bodyPr anchor="ctr" rtlCol="false" tIns="65680" lIns="65680" bIns="65680" rIns="65680"/>
              <a:lstStyle/>
              <a:p>
                <a:pPr algn="ctr">
                  <a:lnSpc>
                    <a:spcPts val="2659"/>
                  </a:lnSpc>
                </a:pPr>
              </a:p>
            </p:txBody>
          </p:sp>
        </p:grpSp>
        <p:grpSp>
          <p:nvGrpSpPr>
            <p:cNvPr name="Group 37" id="37"/>
            <p:cNvGrpSpPr/>
            <p:nvPr/>
          </p:nvGrpSpPr>
          <p:grpSpPr>
            <a:xfrm rot="4726864">
              <a:off x="4952688" y="6965852"/>
              <a:ext cx="22696491" cy="10343491"/>
              <a:chOff x="0" y="0"/>
              <a:chExt cx="2709012" cy="1234580"/>
            </a:xfrm>
          </p:grpSpPr>
          <p:sp>
            <p:nvSpPr>
              <p:cNvPr name="Freeform 38" id="38"/>
              <p:cNvSpPr/>
              <p:nvPr/>
            </p:nvSpPr>
            <p:spPr>
              <a:xfrm flipH="false" flipV="false" rot="0">
                <a:off x="0" y="0"/>
                <a:ext cx="2709012" cy="1234580"/>
              </a:xfrm>
              <a:custGeom>
                <a:avLst/>
                <a:gdLst/>
                <a:ahLst/>
                <a:cxnLst/>
                <a:rect r="r" b="b" t="t" l="l"/>
                <a:pathLst>
                  <a:path h="1234580" w="2709012">
                    <a:moveTo>
                      <a:pt x="8883" y="0"/>
                    </a:moveTo>
                    <a:lnTo>
                      <a:pt x="2700129" y="0"/>
                    </a:lnTo>
                    <a:cubicBezTo>
                      <a:pt x="2702485" y="0"/>
                      <a:pt x="2704745" y="936"/>
                      <a:pt x="2706411" y="2602"/>
                    </a:cubicBezTo>
                    <a:cubicBezTo>
                      <a:pt x="2708077" y="4268"/>
                      <a:pt x="2709012" y="6527"/>
                      <a:pt x="2709012" y="8883"/>
                    </a:cubicBezTo>
                    <a:lnTo>
                      <a:pt x="2709012" y="1225697"/>
                    </a:lnTo>
                    <a:cubicBezTo>
                      <a:pt x="2709012" y="1228053"/>
                      <a:pt x="2708077" y="1230313"/>
                      <a:pt x="2706411" y="1231979"/>
                    </a:cubicBezTo>
                    <a:cubicBezTo>
                      <a:pt x="2704745" y="1233645"/>
                      <a:pt x="2702485" y="1234580"/>
                      <a:pt x="2700129" y="1234580"/>
                    </a:cubicBezTo>
                    <a:lnTo>
                      <a:pt x="8883" y="1234580"/>
                    </a:lnTo>
                    <a:cubicBezTo>
                      <a:pt x="6527" y="1234580"/>
                      <a:pt x="4268" y="1233645"/>
                      <a:pt x="2602" y="1231979"/>
                    </a:cubicBezTo>
                    <a:cubicBezTo>
                      <a:pt x="936" y="1230313"/>
                      <a:pt x="0" y="1228053"/>
                      <a:pt x="0" y="1225697"/>
                    </a:cubicBezTo>
                    <a:lnTo>
                      <a:pt x="0" y="8883"/>
                    </a:lnTo>
                    <a:cubicBezTo>
                      <a:pt x="0" y="6527"/>
                      <a:pt x="936" y="4268"/>
                      <a:pt x="2602" y="2602"/>
                    </a:cubicBezTo>
                    <a:cubicBezTo>
                      <a:pt x="4268" y="936"/>
                      <a:pt x="6527" y="0"/>
                      <a:pt x="8883" y="0"/>
                    </a:cubicBezTo>
                    <a:close/>
                  </a:path>
                </a:pathLst>
              </a:custGeom>
              <a:solidFill>
                <a:srgbClr val="175DBD">
                  <a:alpha val="11765"/>
                </a:srgbClr>
              </a:solidFill>
            </p:spPr>
          </p:sp>
          <p:sp>
            <p:nvSpPr>
              <p:cNvPr name="TextBox 39" id="39"/>
              <p:cNvSpPr txBox="true"/>
              <p:nvPr/>
            </p:nvSpPr>
            <p:spPr>
              <a:xfrm>
                <a:off x="0" y="-38100"/>
                <a:ext cx="2709012" cy="1272680"/>
              </a:xfrm>
              <a:prstGeom prst="rect">
                <a:avLst/>
              </a:prstGeom>
            </p:spPr>
            <p:txBody>
              <a:bodyPr anchor="ctr" rtlCol="false" tIns="65680" lIns="65680" bIns="65680" rIns="65680"/>
              <a:lstStyle/>
              <a:p>
                <a:pPr algn="ctr">
                  <a:lnSpc>
                    <a:spcPts val="2659"/>
                  </a:lnSpc>
                </a:pPr>
              </a:p>
            </p:txBody>
          </p:sp>
        </p:grpSp>
      </p:grpSp>
      <p:sp>
        <p:nvSpPr>
          <p:cNvPr name="Freeform 40" id="40"/>
          <p:cNvSpPr/>
          <p:nvPr/>
        </p:nvSpPr>
        <p:spPr>
          <a:xfrm flipH="false" flipV="true" rot="0">
            <a:off x="-1500241" y="-2398012"/>
            <a:ext cx="6222760" cy="4114800"/>
          </a:xfrm>
          <a:custGeom>
            <a:avLst/>
            <a:gdLst/>
            <a:ahLst/>
            <a:cxnLst/>
            <a:rect r="r" b="b" t="t" l="l"/>
            <a:pathLst>
              <a:path h="4114800" w="6222760">
                <a:moveTo>
                  <a:pt x="0" y="4114800"/>
                </a:moveTo>
                <a:lnTo>
                  <a:pt x="6222760" y="4114800"/>
                </a:lnTo>
                <a:lnTo>
                  <a:pt x="6222760"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1" id="41"/>
          <p:cNvSpPr/>
          <p:nvPr/>
        </p:nvSpPr>
        <p:spPr>
          <a:xfrm flipH="true" flipV="false" rot="0">
            <a:off x="13565481" y="8570212"/>
            <a:ext cx="6222760" cy="4114800"/>
          </a:xfrm>
          <a:custGeom>
            <a:avLst/>
            <a:gdLst/>
            <a:ahLst/>
            <a:cxnLst/>
            <a:rect r="r" b="b" t="t" l="l"/>
            <a:pathLst>
              <a:path h="4114800" w="6222760">
                <a:moveTo>
                  <a:pt x="6222760" y="0"/>
                </a:moveTo>
                <a:lnTo>
                  <a:pt x="0" y="0"/>
                </a:lnTo>
                <a:lnTo>
                  <a:pt x="0" y="4114800"/>
                </a:lnTo>
                <a:lnTo>
                  <a:pt x="6222760" y="4114800"/>
                </a:lnTo>
                <a:lnTo>
                  <a:pt x="622276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2" id="42"/>
          <p:cNvSpPr txBox="true"/>
          <p:nvPr/>
        </p:nvSpPr>
        <p:spPr>
          <a:xfrm rot="0">
            <a:off x="1984843" y="1602488"/>
            <a:ext cx="14318314" cy="995673"/>
          </a:xfrm>
          <a:prstGeom prst="rect">
            <a:avLst/>
          </a:prstGeom>
        </p:spPr>
        <p:txBody>
          <a:bodyPr anchor="t" rtlCol="false" tIns="0" lIns="0" bIns="0" rIns="0">
            <a:spAutoFit/>
          </a:bodyPr>
          <a:lstStyle/>
          <a:p>
            <a:pPr algn="l" marL="0" indent="0" lvl="0">
              <a:lnSpc>
                <a:spcPts val="8120"/>
              </a:lnSpc>
              <a:spcBef>
                <a:spcPct val="0"/>
              </a:spcBef>
            </a:pPr>
            <a:r>
              <a:rPr lang="en-US" b="true" sz="5800">
                <a:solidFill>
                  <a:srgbClr val="113E7A"/>
                </a:solidFill>
                <a:latin typeface="Muli Bold"/>
                <a:ea typeface="Muli Bold"/>
                <a:cs typeface="Muli Bold"/>
                <a:sym typeface="Muli Bold"/>
              </a:rPr>
              <a:t>4.3 Báo cáo vi phạm &amp; Thống kê</a:t>
            </a:r>
          </a:p>
        </p:txBody>
      </p:sp>
      <p:sp>
        <p:nvSpPr>
          <p:cNvPr name="TextBox 43" id="43"/>
          <p:cNvSpPr txBox="true"/>
          <p:nvPr/>
        </p:nvSpPr>
        <p:spPr>
          <a:xfrm rot="0">
            <a:off x="2575393" y="4008120"/>
            <a:ext cx="10633868" cy="1989455"/>
          </a:xfrm>
          <a:prstGeom prst="rect">
            <a:avLst/>
          </a:prstGeom>
        </p:spPr>
        <p:txBody>
          <a:bodyPr anchor="t" rtlCol="false" tIns="0" lIns="0" bIns="0" rIns="0">
            <a:spAutoFit/>
          </a:bodyPr>
          <a:lstStyle/>
          <a:p>
            <a:pPr algn="l">
              <a:lnSpc>
                <a:spcPts val="3219"/>
              </a:lnSpc>
            </a:pPr>
            <a:r>
              <a:rPr lang="en-US" sz="2299" b="true">
                <a:solidFill>
                  <a:srgbClr val="0D2648"/>
                </a:solidFill>
                <a:latin typeface="Muli Bold"/>
                <a:ea typeface="Muli Bold"/>
                <a:cs typeface="Muli Bold"/>
                <a:sym typeface="Muli Bold"/>
              </a:rPr>
              <a:t>Luồng thao tác:</a:t>
            </a:r>
          </a:p>
          <a:p>
            <a:pPr algn="l" marL="496569" indent="-248284" lvl="1">
              <a:lnSpc>
                <a:spcPts val="3219"/>
              </a:lnSpc>
              <a:buFont typeface="Arial"/>
              <a:buChar char="•"/>
            </a:pPr>
            <a:r>
              <a:rPr lang="en-US" sz="2299">
                <a:solidFill>
                  <a:srgbClr val="0D2648"/>
                </a:solidFill>
                <a:latin typeface="Muli"/>
                <a:ea typeface="Muli"/>
                <a:cs typeface="Muli"/>
                <a:sym typeface="Muli"/>
              </a:rPr>
              <a:t>Gửi báo cáo vi phạm trên tin đăng của người khác</a:t>
            </a:r>
          </a:p>
          <a:p>
            <a:pPr algn="l" marL="496569" indent="-248284" lvl="1">
              <a:lnSpc>
                <a:spcPts val="3219"/>
              </a:lnSpc>
              <a:buFont typeface="Arial"/>
              <a:buChar char="•"/>
            </a:pPr>
            <a:r>
              <a:rPr lang="en-US" sz="2299">
                <a:solidFill>
                  <a:srgbClr val="0D2648"/>
                </a:solidFill>
                <a:latin typeface="Muli"/>
                <a:ea typeface="Muli"/>
                <a:cs typeface="Muli"/>
                <a:sym typeface="Muli"/>
              </a:rPr>
              <a:t>Kiểm tra cơ chế chống spam (chặn gửi trùng báo cáo)</a:t>
            </a:r>
          </a:p>
          <a:p>
            <a:pPr algn="l" marL="496569" indent="-248284" lvl="1">
              <a:lnSpc>
                <a:spcPts val="3219"/>
              </a:lnSpc>
              <a:buFont typeface="Arial"/>
              <a:buChar char="•"/>
            </a:pPr>
            <a:r>
              <a:rPr lang="en-US" sz="2299">
                <a:solidFill>
                  <a:srgbClr val="0D2648"/>
                </a:solidFill>
                <a:latin typeface="Muli"/>
                <a:ea typeface="Muli"/>
                <a:cs typeface="Muli"/>
                <a:sym typeface="Muli"/>
              </a:rPr>
              <a:t>Admin xử lý báo cáo vi phạm (Duyệt/Từ chối + tùy chọn Khóa tin)</a:t>
            </a:r>
          </a:p>
          <a:p>
            <a:pPr algn="l" marL="496569" indent="-248284" lvl="1">
              <a:lnSpc>
                <a:spcPts val="3219"/>
              </a:lnSpc>
              <a:buFont typeface="Arial"/>
              <a:buChar char="•"/>
            </a:pPr>
            <a:r>
              <a:rPr lang="en-US" sz="2299">
                <a:solidFill>
                  <a:srgbClr val="0D2648"/>
                </a:solidFill>
                <a:latin typeface="Muli"/>
                <a:ea typeface="Muli"/>
                <a:cs typeface="Muli"/>
                <a:sym typeface="Muli"/>
              </a:rPr>
              <a:t>Dashboard thống kê thị trường: Tổng quan số liệu + Biểu đồ giá</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CFE"/>
        </a:solidFill>
      </p:bgPr>
    </p:bg>
    <p:spTree>
      <p:nvGrpSpPr>
        <p:cNvPr id="1" name=""/>
        <p:cNvGrpSpPr/>
        <p:nvPr/>
      </p:nvGrpSpPr>
      <p:grpSpPr>
        <a:xfrm>
          <a:off x="0" y="0"/>
          <a:ext cx="0" cy="0"/>
          <a:chOff x="0" y="0"/>
          <a:chExt cx="0" cy="0"/>
        </a:xfrm>
      </p:grpSpPr>
      <p:grpSp>
        <p:nvGrpSpPr>
          <p:cNvPr name="Group 2" id="2"/>
          <p:cNvGrpSpPr/>
          <p:nvPr/>
        </p:nvGrpSpPr>
        <p:grpSpPr>
          <a:xfrm rot="0">
            <a:off x="-7414507" y="-6721593"/>
            <a:ext cx="14081576" cy="14328946"/>
            <a:chOff x="0" y="0"/>
            <a:chExt cx="18775435" cy="19105262"/>
          </a:xfrm>
        </p:grpSpPr>
        <p:grpSp>
          <p:nvGrpSpPr>
            <p:cNvPr name="Group 3" id="3"/>
            <p:cNvGrpSpPr/>
            <p:nvPr/>
          </p:nvGrpSpPr>
          <p:grpSpPr>
            <a:xfrm rot="-4029521">
              <a:off x="-439874" y="6301441"/>
              <a:ext cx="15736054" cy="8000082"/>
              <a:chOff x="0" y="0"/>
              <a:chExt cx="2428403" cy="1234580"/>
            </a:xfrm>
          </p:grpSpPr>
          <p:sp>
            <p:nvSpPr>
              <p:cNvPr name="Freeform 4" id="4"/>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5" id="5"/>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90957">
              <a:off x="2037272" y="8866899"/>
              <a:ext cx="16242519" cy="1219946"/>
              <a:chOff x="0" y="0"/>
              <a:chExt cx="2061456" cy="154832"/>
            </a:xfrm>
          </p:grpSpPr>
          <p:sp>
            <p:nvSpPr>
              <p:cNvPr name="Freeform 7" id="7"/>
              <p:cNvSpPr/>
              <p:nvPr/>
            </p:nvSpPr>
            <p:spPr>
              <a:xfrm flipH="false" flipV="false" rot="0">
                <a:off x="0" y="0"/>
                <a:ext cx="2061456" cy="154832"/>
              </a:xfrm>
              <a:custGeom>
                <a:avLst/>
                <a:gdLst/>
                <a:ahLst/>
                <a:cxnLst/>
                <a:rect r="r" b="b" t="t" l="l"/>
                <a:pathLst>
                  <a:path h="154832" w="2061456">
                    <a:moveTo>
                      <a:pt x="230188" y="0"/>
                    </a:moveTo>
                    <a:lnTo>
                      <a:pt x="2061456" y="0"/>
                    </a:lnTo>
                    <a:lnTo>
                      <a:pt x="1831268" y="154832"/>
                    </a:lnTo>
                    <a:lnTo>
                      <a:pt x="0" y="154832"/>
                    </a:lnTo>
                    <a:lnTo>
                      <a:pt x="230188" y="0"/>
                    </a:lnTo>
                    <a:close/>
                  </a:path>
                </a:pathLst>
              </a:custGeom>
              <a:solidFill>
                <a:srgbClr val="3199CE">
                  <a:alpha val="43922"/>
                </a:srgbClr>
              </a:solidFill>
            </p:spPr>
          </p:sp>
          <p:sp>
            <p:nvSpPr>
              <p:cNvPr name="TextBox 8" id="8"/>
              <p:cNvSpPr txBox="true"/>
              <p:nvPr/>
            </p:nvSpPr>
            <p:spPr>
              <a:xfrm>
                <a:off x="254000" y="-38100"/>
                <a:ext cx="1553456" cy="19293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2875618">
              <a:off x="627890" y="4520664"/>
              <a:ext cx="15736054" cy="8000082"/>
              <a:chOff x="0" y="0"/>
              <a:chExt cx="2428403" cy="1234580"/>
            </a:xfrm>
          </p:grpSpPr>
          <p:sp>
            <p:nvSpPr>
              <p:cNvPr name="Freeform 10" id="10"/>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2941"/>
                </a:srgbClr>
              </a:solidFill>
            </p:spPr>
          </p:sp>
          <p:sp>
            <p:nvSpPr>
              <p:cNvPr name="TextBox 11" id="11"/>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3737466">
              <a:off x="-27669" y="5476831"/>
              <a:ext cx="15736054" cy="8000082"/>
              <a:chOff x="0" y="0"/>
              <a:chExt cx="2428403" cy="1234580"/>
            </a:xfrm>
          </p:grpSpPr>
          <p:sp>
            <p:nvSpPr>
              <p:cNvPr name="Freeform 13" id="13"/>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name="TextBox 14" id="14"/>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1639264">
              <a:off x="1598798" y="3816229"/>
              <a:ext cx="15736054" cy="8000082"/>
              <a:chOff x="0" y="0"/>
              <a:chExt cx="2428403" cy="1234580"/>
            </a:xfrm>
          </p:grpSpPr>
          <p:sp>
            <p:nvSpPr>
              <p:cNvPr name="Freeform 16" id="16"/>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17" id="17"/>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673135">
              <a:off x="610517" y="2497408"/>
              <a:ext cx="17554400" cy="8000082"/>
              <a:chOff x="0" y="0"/>
              <a:chExt cx="2709012" cy="1234580"/>
            </a:xfrm>
          </p:grpSpPr>
          <p:sp>
            <p:nvSpPr>
              <p:cNvPr name="Freeform 19" id="19"/>
              <p:cNvSpPr/>
              <p:nvPr/>
            </p:nvSpPr>
            <p:spPr>
              <a:xfrm flipH="false" flipV="false" rot="0">
                <a:off x="0" y="0"/>
                <a:ext cx="2709012" cy="1234580"/>
              </a:xfrm>
              <a:custGeom>
                <a:avLst/>
                <a:gdLst/>
                <a:ahLst/>
                <a:cxnLst/>
                <a:rect r="r" b="b" t="t" l="l"/>
                <a:pathLst>
                  <a:path h="1234580" w="2709012">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1765"/>
                </a:srgbClr>
              </a:solidFill>
            </p:spPr>
          </p:sp>
          <p:sp>
            <p:nvSpPr>
              <p:cNvPr name="TextBox 20" id="20"/>
              <p:cNvSpPr txBox="true"/>
              <p:nvPr/>
            </p:nvSpPr>
            <p:spPr>
              <a:xfrm>
                <a:off x="0" y="-38100"/>
                <a:ext cx="2709012" cy="1272680"/>
              </a:xfrm>
              <a:prstGeom prst="rect">
                <a:avLst/>
              </a:prstGeom>
            </p:spPr>
            <p:txBody>
              <a:bodyPr anchor="ctr" rtlCol="false" tIns="50800" lIns="50800" bIns="50800" rIns="50800"/>
              <a:lstStyle/>
              <a:p>
                <a:pPr algn="ctr">
                  <a:lnSpc>
                    <a:spcPts val="2659"/>
                  </a:lnSpc>
                </a:pPr>
              </a:p>
            </p:txBody>
          </p:sp>
        </p:grpSp>
      </p:grpSp>
      <p:grpSp>
        <p:nvGrpSpPr>
          <p:cNvPr name="Group 21" id="21"/>
          <p:cNvGrpSpPr/>
          <p:nvPr/>
        </p:nvGrpSpPr>
        <p:grpSpPr>
          <a:xfrm rot="0">
            <a:off x="11620932" y="2679647"/>
            <a:ext cx="14081576" cy="14328946"/>
            <a:chOff x="0" y="0"/>
            <a:chExt cx="18775435" cy="19105262"/>
          </a:xfrm>
        </p:grpSpPr>
        <p:grpSp>
          <p:nvGrpSpPr>
            <p:cNvPr name="Group 22" id="22"/>
            <p:cNvGrpSpPr/>
            <p:nvPr/>
          </p:nvGrpSpPr>
          <p:grpSpPr>
            <a:xfrm rot="6770478">
              <a:off x="3479254" y="4803740"/>
              <a:ext cx="15736054" cy="8000082"/>
              <a:chOff x="0" y="0"/>
              <a:chExt cx="2428403" cy="1234580"/>
            </a:xfrm>
          </p:grpSpPr>
          <p:sp>
            <p:nvSpPr>
              <p:cNvPr name="Freeform 23" id="23"/>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24" id="24"/>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10709042">
              <a:off x="495643" y="9018417"/>
              <a:ext cx="16242519" cy="1219946"/>
              <a:chOff x="0" y="0"/>
              <a:chExt cx="2061456" cy="154832"/>
            </a:xfrm>
          </p:grpSpPr>
          <p:sp>
            <p:nvSpPr>
              <p:cNvPr name="Freeform 26" id="26"/>
              <p:cNvSpPr/>
              <p:nvPr/>
            </p:nvSpPr>
            <p:spPr>
              <a:xfrm flipH="false" flipV="false" rot="0">
                <a:off x="0" y="0"/>
                <a:ext cx="2061456" cy="154832"/>
              </a:xfrm>
              <a:custGeom>
                <a:avLst/>
                <a:gdLst/>
                <a:ahLst/>
                <a:cxnLst/>
                <a:rect r="r" b="b" t="t" l="l"/>
                <a:pathLst>
                  <a:path h="154832" w="2061456">
                    <a:moveTo>
                      <a:pt x="230188" y="0"/>
                    </a:moveTo>
                    <a:lnTo>
                      <a:pt x="2061456" y="0"/>
                    </a:lnTo>
                    <a:lnTo>
                      <a:pt x="1831268" y="154832"/>
                    </a:lnTo>
                    <a:lnTo>
                      <a:pt x="0" y="154832"/>
                    </a:lnTo>
                    <a:lnTo>
                      <a:pt x="230188" y="0"/>
                    </a:lnTo>
                    <a:close/>
                  </a:path>
                </a:pathLst>
              </a:custGeom>
              <a:solidFill>
                <a:srgbClr val="3199CE">
                  <a:alpha val="43922"/>
                </a:srgbClr>
              </a:solidFill>
            </p:spPr>
          </p:sp>
          <p:sp>
            <p:nvSpPr>
              <p:cNvPr name="TextBox 27" id="27"/>
              <p:cNvSpPr txBox="true"/>
              <p:nvPr/>
            </p:nvSpPr>
            <p:spPr>
              <a:xfrm>
                <a:off x="254000" y="-38100"/>
                <a:ext cx="1553456" cy="192932"/>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7924381">
              <a:off x="2411490" y="6584516"/>
              <a:ext cx="15736054" cy="8000082"/>
              <a:chOff x="0" y="0"/>
              <a:chExt cx="2428403" cy="1234580"/>
            </a:xfrm>
          </p:grpSpPr>
          <p:sp>
            <p:nvSpPr>
              <p:cNvPr name="Freeform 29" id="29"/>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2941"/>
                </a:srgbClr>
              </a:solidFill>
            </p:spPr>
          </p:sp>
          <p:sp>
            <p:nvSpPr>
              <p:cNvPr name="TextBox 30" id="30"/>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7062533">
              <a:off x="3067050" y="5628349"/>
              <a:ext cx="15736054" cy="8000082"/>
              <a:chOff x="0" y="0"/>
              <a:chExt cx="2428403" cy="1234580"/>
            </a:xfrm>
          </p:grpSpPr>
          <p:sp>
            <p:nvSpPr>
              <p:cNvPr name="Freeform 32" id="32"/>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name="TextBox 33" id="33"/>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9160735">
              <a:off x="1440582" y="7288951"/>
              <a:ext cx="15736054" cy="8000082"/>
              <a:chOff x="0" y="0"/>
              <a:chExt cx="2428403" cy="1234580"/>
            </a:xfrm>
          </p:grpSpPr>
          <p:sp>
            <p:nvSpPr>
              <p:cNvPr name="Freeform 35" id="35"/>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36" id="36"/>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10126864">
              <a:off x="610517" y="8607772"/>
              <a:ext cx="17554400" cy="8000082"/>
              <a:chOff x="0" y="0"/>
              <a:chExt cx="2709012" cy="1234580"/>
            </a:xfrm>
          </p:grpSpPr>
          <p:sp>
            <p:nvSpPr>
              <p:cNvPr name="Freeform 38" id="38"/>
              <p:cNvSpPr/>
              <p:nvPr/>
            </p:nvSpPr>
            <p:spPr>
              <a:xfrm flipH="false" flipV="false" rot="0">
                <a:off x="0" y="0"/>
                <a:ext cx="2709012" cy="1234580"/>
              </a:xfrm>
              <a:custGeom>
                <a:avLst/>
                <a:gdLst/>
                <a:ahLst/>
                <a:cxnLst/>
                <a:rect r="r" b="b" t="t" l="l"/>
                <a:pathLst>
                  <a:path h="1234580" w="2709012">
                    <a:moveTo>
                      <a:pt x="11485" y="0"/>
                    </a:moveTo>
                    <a:lnTo>
                      <a:pt x="2697527" y="0"/>
                    </a:lnTo>
                    <a:cubicBezTo>
                      <a:pt x="2703870" y="0"/>
                      <a:pt x="2709012" y="5142"/>
                      <a:pt x="2709012" y="11485"/>
                    </a:cubicBezTo>
                    <a:lnTo>
                      <a:pt x="2709012" y="1223095"/>
                    </a:lnTo>
                    <a:cubicBezTo>
                      <a:pt x="2709012" y="1229438"/>
                      <a:pt x="2703870" y="1234580"/>
                      <a:pt x="2697527" y="1234580"/>
                    </a:cubicBezTo>
                    <a:lnTo>
                      <a:pt x="11485" y="1234580"/>
                    </a:lnTo>
                    <a:cubicBezTo>
                      <a:pt x="5142" y="1234580"/>
                      <a:pt x="0" y="1229438"/>
                      <a:pt x="0" y="1223095"/>
                    </a:cubicBezTo>
                    <a:lnTo>
                      <a:pt x="0" y="11485"/>
                    </a:lnTo>
                    <a:cubicBezTo>
                      <a:pt x="0" y="5142"/>
                      <a:pt x="5142" y="0"/>
                      <a:pt x="11485" y="0"/>
                    </a:cubicBezTo>
                    <a:close/>
                  </a:path>
                </a:pathLst>
              </a:custGeom>
              <a:solidFill>
                <a:srgbClr val="175DBD">
                  <a:alpha val="11765"/>
                </a:srgbClr>
              </a:solidFill>
            </p:spPr>
          </p:sp>
          <p:sp>
            <p:nvSpPr>
              <p:cNvPr name="TextBox 39" id="39"/>
              <p:cNvSpPr txBox="true"/>
              <p:nvPr/>
            </p:nvSpPr>
            <p:spPr>
              <a:xfrm>
                <a:off x="0" y="-38100"/>
                <a:ext cx="2709012" cy="1272680"/>
              </a:xfrm>
              <a:prstGeom prst="rect">
                <a:avLst/>
              </a:prstGeom>
            </p:spPr>
            <p:txBody>
              <a:bodyPr anchor="ctr" rtlCol="false" tIns="50800" lIns="50800" bIns="50800" rIns="50800"/>
              <a:lstStyle/>
              <a:p>
                <a:pPr algn="ctr">
                  <a:lnSpc>
                    <a:spcPts val="2659"/>
                  </a:lnSpc>
                </a:pPr>
              </a:p>
            </p:txBody>
          </p:sp>
        </p:grpSp>
      </p:grpSp>
      <p:sp>
        <p:nvSpPr>
          <p:cNvPr name="Freeform 40" id="40"/>
          <p:cNvSpPr/>
          <p:nvPr/>
        </p:nvSpPr>
        <p:spPr>
          <a:xfrm flipH="false" flipV="true" rot="0">
            <a:off x="14573663" y="-2783793"/>
            <a:ext cx="6222760" cy="4114800"/>
          </a:xfrm>
          <a:custGeom>
            <a:avLst/>
            <a:gdLst/>
            <a:ahLst/>
            <a:cxnLst/>
            <a:rect r="r" b="b" t="t" l="l"/>
            <a:pathLst>
              <a:path h="4114800" w="6222760">
                <a:moveTo>
                  <a:pt x="0" y="4114800"/>
                </a:moveTo>
                <a:lnTo>
                  <a:pt x="6222760" y="4114800"/>
                </a:lnTo>
                <a:lnTo>
                  <a:pt x="6222760"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1" id="41"/>
          <p:cNvSpPr/>
          <p:nvPr/>
        </p:nvSpPr>
        <p:spPr>
          <a:xfrm flipH="true" flipV="false" rot="0">
            <a:off x="-2508423" y="8955993"/>
            <a:ext cx="6222760" cy="4114800"/>
          </a:xfrm>
          <a:custGeom>
            <a:avLst/>
            <a:gdLst/>
            <a:ahLst/>
            <a:cxnLst/>
            <a:rect r="r" b="b" t="t" l="l"/>
            <a:pathLst>
              <a:path h="4114800" w="6222760">
                <a:moveTo>
                  <a:pt x="6222760" y="0"/>
                </a:moveTo>
                <a:lnTo>
                  <a:pt x="0" y="0"/>
                </a:lnTo>
                <a:lnTo>
                  <a:pt x="0" y="4114800"/>
                </a:lnTo>
                <a:lnTo>
                  <a:pt x="6222760" y="4114800"/>
                </a:lnTo>
                <a:lnTo>
                  <a:pt x="622276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2" id="42"/>
          <p:cNvSpPr txBox="true"/>
          <p:nvPr/>
        </p:nvSpPr>
        <p:spPr>
          <a:xfrm rot="0">
            <a:off x="1984843" y="1693188"/>
            <a:ext cx="14318314" cy="995673"/>
          </a:xfrm>
          <a:prstGeom prst="rect">
            <a:avLst/>
          </a:prstGeom>
        </p:spPr>
        <p:txBody>
          <a:bodyPr anchor="t" rtlCol="false" tIns="0" lIns="0" bIns="0" rIns="0">
            <a:spAutoFit/>
          </a:bodyPr>
          <a:lstStyle/>
          <a:p>
            <a:pPr algn="l" marL="0" indent="0" lvl="0">
              <a:lnSpc>
                <a:spcPts val="8120"/>
              </a:lnSpc>
              <a:spcBef>
                <a:spcPct val="0"/>
              </a:spcBef>
            </a:pPr>
            <a:r>
              <a:rPr lang="en-US" b="true" sz="5800">
                <a:solidFill>
                  <a:srgbClr val="113E7A"/>
                </a:solidFill>
                <a:latin typeface="Muli Bold"/>
                <a:ea typeface="Muli Bold"/>
                <a:cs typeface="Muli Bold"/>
                <a:sym typeface="Muli Bold"/>
              </a:rPr>
              <a:t> 4.4 Yêu thích &amp; Tin tức thị trường</a:t>
            </a:r>
          </a:p>
        </p:txBody>
      </p:sp>
      <p:sp>
        <p:nvSpPr>
          <p:cNvPr name="TextBox 43" id="43"/>
          <p:cNvSpPr txBox="true"/>
          <p:nvPr/>
        </p:nvSpPr>
        <p:spPr>
          <a:xfrm rot="0">
            <a:off x="2789593" y="4008120"/>
            <a:ext cx="11143584" cy="1989455"/>
          </a:xfrm>
          <a:prstGeom prst="rect">
            <a:avLst/>
          </a:prstGeom>
        </p:spPr>
        <p:txBody>
          <a:bodyPr anchor="t" rtlCol="false" tIns="0" lIns="0" bIns="0" rIns="0">
            <a:spAutoFit/>
          </a:bodyPr>
          <a:lstStyle/>
          <a:p>
            <a:pPr algn="l">
              <a:lnSpc>
                <a:spcPts val="3219"/>
              </a:lnSpc>
            </a:pPr>
            <a:r>
              <a:rPr lang="en-US" sz="2299" b="true">
                <a:solidFill>
                  <a:srgbClr val="0D2648"/>
                </a:solidFill>
                <a:latin typeface="Muli Bold"/>
                <a:ea typeface="Muli Bold"/>
                <a:cs typeface="Muli Bold"/>
                <a:sym typeface="Muli Bold"/>
              </a:rPr>
              <a:t>Luồng thao tác:</a:t>
            </a:r>
          </a:p>
          <a:p>
            <a:pPr algn="l" marL="496569" indent="-248284" lvl="1">
              <a:lnSpc>
                <a:spcPts val="3219"/>
              </a:lnSpc>
              <a:buFont typeface="Arial"/>
              <a:buChar char="•"/>
            </a:pPr>
            <a:r>
              <a:rPr lang="en-US" sz="2299">
                <a:solidFill>
                  <a:srgbClr val="0D2648"/>
                </a:solidFill>
                <a:latin typeface="Muli"/>
                <a:ea typeface="Muli"/>
                <a:cs typeface="Muli"/>
                <a:sym typeface="Muli"/>
              </a:rPr>
              <a:t>Đánh dấu/Bỏ đánh dấu lưu tin yêu thích tại card hoặc trang chi tiết</a:t>
            </a:r>
          </a:p>
          <a:p>
            <a:pPr algn="l" marL="496569" indent="-248284" lvl="1">
              <a:lnSpc>
                <a:spcPts val="3219"/>
              </a:lnSpc>
              <a:buFont typeface="Arial"/>
              <a:buChar char="•"/>
            </a:pPr>
            <a:r>
              <a:rPr lang="en-US" sz="2299">
                <a:solidFill>
                  <a:srgbClr val="0D2648"/>
                </a:solidFill>
                <a:latin typeface="Muli"/>
                <a:ea typeface="Muli"/>
                <a:cs typeface="Muli"/>
                <a:sym typeface="Muli"/>
              </a:rPr>
              <a:t>Quản lý danh sách tin đã lưu (tự lọc tin bị khóa/xóa)</a:t>
            </a:r>
          </a:p>
          <a:p>
            <a:pPr algn="l" marL="496569" indent="-248284" lvl="1">
              <a:lnSpc>
                <a:spcPts val="3219"/>
              </a:lnSpc>
              <a:buFont typeface="Arial"/>
              <a:buChar char="•"/>
            </a:pPr>
            <a:r>
              <a:rPr lang="en-US" sz="2299">
                <a:solidFill>
                  <a:srgbClr val="0D2648"/>
                </a:solidFill>
                <a:latin typeface="Muli"/>
                <a:ea typeface="Muli"/>
                <a:cs typeface="Muli"/>
                <a:sym typeface="Muli"/>
              </a:rPr>
              <a:t>Admin soạn thảo bài viết thị trường</a:t>
            </a:r>
          </a:p>
          <a:p>
            <a:pPr algn="l" marL="496569" indent="-248284" lvl="1">
              <a:lnSpc>
                <a:spcPts val="3219"/>
              </a:lnSpc>
              <a:buFont typeface="Arial"/>
              <a:buChar char="•"/>
            </a:pPr>
            <a:r>
              <a:rPr lang="en-US" sz="2299">
                <a:solidFill>
                  <a:srgbClr val="0D2648"/>
                </a:solidFill>
                <a:latin typeface="Muli"/>
                <a:ea typeface="Muli"/>
                <a:cs typeface="Muli"/>
                <a:sym typeface="Muli"/>
              </a:rPr>
              <a:t>Xem bài viết công khai không cần đăng nhập</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CFE"/>
        </a:solidFill>
      </p:bgPr>
    </p:bg>
    <p:spTree>
      <p:nvGrpSpPr>
        <p:cNvPr id="1" name=""/>
        <p:cNvGrpSpPr/>
        <p:nvPr/>
      </p:nvGrpSpPr>
      <p:grpSpPr>
        <a:xfrm>
          <a:off x="0" y="0"/>
          <a:ext cx="0" cy="0"/>
          <a:chOff x="0" y="0"/>
          <a:chExt cx="0" cy="0"/>
        </a:xfrm>
      </p:grpSpPr>
      <p:grpSp>
        <p:nvGrpSpPr>
          <p:cNvPr name="Group 2" id="2"/>
          <p:cNvGrpSpPr/>
          <p:nvPr/>
        </p:nvGrpSpPr>
        <p:grpSpPr>
          <a:xfrm rot="0">
            <a:off x="-6771593" y="3707636"/>
            <a:ext cx="15080387" cy="13991462"/>
            <a:chOff x="0" y="0"/>
            <a:chExt cx="20107183" cy="18655282"/>
          </a:xfrm>
        </p:grpSpPr>
        <p:grpSp>
          <p:nvGrpSpPr>
            <p:cNvPr name="Group 3" id="3"/>
            <p:cNvGrpSpPr/>
            <p:nvPr/>
          </p:nvGrpSpPr>
          <p:grpSpPr>
            <a:xfrm rot="-7039264">
              <a:off x="-51757" y="4826220"/>
              <a:ext cx="15736054" cy="8000082"/>
              <a:chOff x="0" y="0"/>
              <a:chExt cx="2428403" cy="1234580"/>
            </a:xfrm>
          </p:grpSpPr>
          <p:sp>
            <p:nvSpPr>
              <p:cNvPr name="Freeform 4" id="4"/>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name="TextBox 5" id="5"/>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7695759">
              <a:off x="855878" y="6000328"/>
              <a:ext cx="15736054" cy="8000082"/>
              <a:chOff x="0" y="0"/>
              <a:chExt cx="2428403" cy="1234580"/>
            </a:xfrm>
          </p:grpSpPr>
          <p:sp>
            <p:nvSpPr>
              <p:cNvPr name="Freeform 7" id="7"/>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8" id="8"/>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862850" y="7660428"/>
              <a:ext cx="15929244" cy="1244940"/>
              <a:chOff x="0" y="0"/>
              <a:chExt cx="2168064" cy="169444"/>
            </a:xfrm>
          </p:grpSpPr>
          <p:sp>
            <p:nvSpPr>
              <p:cNvPr name="Freeform 10" id="10"/>
              <p:cNvSpPr/>
              <p:nvPr/>
            </p:nvSpPr>
            <p:spPr>
              <a:xfrm flipH="false" flipV="false" rot="0">
                <a:off x="0" y="0"/>
                <a:ext cx="2168064" cy="169444"/>
              </a:xfrm>
              <a:custGeom>
                <a:avLst/>
                <a:gdLst/>
                <a:ahLst/>
                <a:cxnLst/>
                <a:rect r="r" b="b" t="t" l="l"/>
                <a:pathLst>
                  <a:path h="169444" w="2168064">
                    <a:moveTo>
                      <a:pt x="1964864" y="0"/>
                    </a:moveTo>
                    <a:lnTo>
                      <a:pt x="0" y="0"/>
                    </a:lnTo>
                    <a:lnTo>
                      <a:pt x="203200" y="169444"/>
                    </a:lnTo>
                    <a:lnTo>
                      <a:pt x="2168064" y="169444"/>
                    </a:lnTo>
                    <a:lnTo>
                      <a:pt x="1964864" y="0"/>
                    </a:lnTo>
                    <a:close/>
                  </a:path>
                </a:pathLst>
              </a:custGeom>
              <a:solidFill>
                <a:srgbClr val="3199CE">
                  <a:alpha val="43922"/>
                </a:srgbClr>
              </a:solidFill>
            </p:spPr>
          </p:sp>
          <p:sp>
            <p:nvSpPr>
              <p:cNvPr name="TextBox 11" id="11"/>
              <p:cNvSpPr txBox="true"/>
              <p:nvPr/>
            </p:nvSpPr>
            <p:spPr>
              <a:xfrm>
                <a:off x="101600" y="-38100"/>
                <a:ext cx="1964864" cy="20754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2" id="12"/>
            <p:cNvGrpSpPr/>
            <p:nvPr/>
          </p:nvGrpSpPr>
          <p:grpSpPr>
            <a:xfrm rot="-9924151">
              <a:off x="3616989" y="7136549"/>
              <a:ext cx="15736054" cy="8000082"/>
              <a:chOff x="0" y="0"/>
              <a:chExt cx="2428403" cy="1234580"/>
            </a:xfrm>
          </p:grpSpPr>
          <p:sp>
            <p:nvSpPr>
              <p:cNvPr name="Freeform 13" id="13"/>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name="TextBox 14" id="14"/>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8275618">
              <a:off x="652678" y="5797128"/>
              <a:ext cx="15736054" cy="8000082"/>
              <a:chOff x="0" y="0"/>
              <a:chExt cx="2428403" cy="1234580"/>
            </a:xfrm>
          </p:grpSpPr>
          <p:sp>
            <p:nvSpPr>
              <p:cNvPr name="Freeform 16" id="16"/>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2941"/>
                </a:srgbClr>
              </a:solidFill>
            </p:spPr>
          </p:sp>
          <p:sp>
            <p:nvSpPr>
              <p:cNvPr name="TextBox 17" id="17"/>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9137466">
              <a:off x="1608845" y="6452687"/>
              <a:ext cx="15736054" cy="8000082"/>
              <a:chOff x="0" y="0"/>
              <a:chExt cx="2428403" cy="1234580"/>
            </a:xfrm>
          </p:grpSpPr>
          <p:sp>
            <p:nvSpPr>
              <p:cNvPr name="Freeform 19" id="19"/>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20" id="20"/>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grpSp>
        <p:nvGrpSpPr>
          <p:cNvPr name="Group 21" id="21"/>
          <p:cNvGrpSpPr/>
          <p:nvPr/>
        </p:nvGrpSpPr>
        <p:grpSpPr>
          <a:xfrm rot="-10800000">
            <a:off x="9979206" y="-7412098"/>
            <a:ext cx="15080387" cy="13991462"/>
            <a:chOff x="0" y="0"/>
            <a:chExt cx="20107183" cy="18655282"/>
          </a:xfrm>
        </p:grpSpPr>
        <p:grpSp>
          <p:nvGrpSpPr>
            <p:cNvPr name="Group 22" id="22"/>
            <p:cNvGrpSpPr/>
            <p:nvPr/>
          </p:nvGrpSpPr>
          <p:grpSpPr>
            <a:xfrm rot="-7039264">
              <a:off x="-51757" y="4826220"/>
              <a:ext cx="15736054" cy="8000082"/>
              <a:chOff x="0" y="0"/>
              <a:chExt cx="2428403" cy="1234580"/>
            </a:xfrm>
          </p:grpSpPr>
          <p:sp>
            <p:nvSpPr>
              <p:cNvPr name="Freeform 23" id="23"/>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name="TextBox 24" id="24"/>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7695759">
              <a:off x="855878" y="6000328"/>
              <a:ext cx="15736054" cy="8000082"/>
              <a:chOff x="0" y="0"/>
              <a:chExt cx="2428403" cy="1234580"/>
            </a:xfrm>
          </p:grpSpPr>
          <p:sp>
            <p:nvSpPr>
              <p:cNvPr name="Freeform 26" id="26"/>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27" id="27"/>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2862850" y="7660428"/>
              <a:ext cx="15929244" cy="1244940"/>
              <a:chOff x="0" y="0"/>
              <a:chExt cx="2168064" cy="169444"/>
            </a:xfrm>
          </p:grpSpPr>
          <p:sp>
            <p:nvSpPr>
              <p:cNvPr name="Freeform 29" id="29"/>
              <p:cNvSpPr/>
              <p:nvPr/>
            </p:nvSpPr>
            <p:spPr>
              <a:xfrm flipH="false" flipV="false" rot="0">
                <a:off x="0" y="0"/>
                <a:ext cx="2168064" cy="169444"/>
              </a:xfrm>
              <a:custGeom>
                <a:avLst/>
                <a:gdLst/>
                <a:ahLst/>
                <a:cxnLst/>
                <a:rect r="r" b="b" t="t" l="l"/>
                <a:pathLst>
                  <a:path h="169444" w="2168064">
                    <a:moveTo>
                      <a:pt x="1964864" y="0"/>
                    </a:moveTo>
                    <a:lnTo>
                      <a:pt x="0" y="0"/>
                    </a:lnTo>
                    <a:lnTo>
                      <a:pt x="203200" y="169444"/>
                    </a:lnTo>
                    <a:lnTo>
                      <a:pt x="2168064" y="169444"/>
                    </a:lnTo>
                    <a:lnTo>
                      <a:pt x="1964864" y="0"/>
                    </a:lnTo>
                    <a:close/>
                  </a:path>
                </a:pathLst>
              </a:custGeom>
              <a:solidFill>
                <a:srgbClr val="3199CE">
                  <a:alpha val="43922"/>
                </a:srgbClr>
              </a:solidFill>
            </p:spPr>
          </p:sp>
          <p:sp>
            <p:nvSpPr>
              <p:cNvPr name="TextBox 30" id="30"/>
              <p:cNvSpPr txBox="true"/>
              <p:nvPr/>
            </p:nvSpPr>
            <p:spPr>
              <a:xfrm>
                <a:off x="101600" y="-38100"/>
                <a:ext cx="1964864" cy="20754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1" id="31"/>
            <p:cNvGrpSpPr/>
            <p:nvPr/>
          </p:nvGrpSpPr>
          <p:grpSpPr>
            <a:xfrm rot="-9924151">
              <a:off x="3616989" y="7136549"/>
              <a:ext cx="15736054" cy="8000082"/>
              <a:chOff x="0" y="0"/>
              <a:chExt cx="2428403" cy="1234580"/>
            </a:xfrm>
          </p:grpSpPr>
          <p:sp>
            <p:nvSpPr>
              <p:cNvPr name="Freeform 32" id="32"/>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3199CE">
                  <a:alpha val="32941"/>
                </a:srgbClr>
              </a:solidFill>
            </p:spPr>
          </p:sp>
          <p:sp>
            <p:nvSpPr>
              <p:cNvPr name="TextBox 33" id="33"/>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8275618">
              <a:off x="652678" y="5797128"/>
              <a:ext cx="15736054" cy="8000082"/>
              <a:chOff x="0" y="0"/>
              <a:chExt cx="2428403" cy="1234580"/>
            </a:xfrm>
          </p:grpSpPr>
          <p:sp>
            <p:nvSpPr>
              <p:cNvPr name="Freeform 35" id="35"/>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175DBD">
                  <a:alpha val="32941"/>
                </a:srgbClr>
              </a:solidFill>
            </p:spPr>
          </p:sp>
          <p:sp>
            <p:nvSpPr>
              <p:cNvPr name="TextBox 36" id="36"/>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9137466">
              <a:off x="1608845" y="6452687"/>
              <a:ext cx="15736054" cy="8000082"/>
              <a:chOff x="0" y="0"/>
              <a:chExt cx="2428403" cy="1234580"/>
            </a:xfrm>
          </p:grpSpPr>
          <p:sp>
            <p:nvSpPr>
              <p:cNvPr name="Freeform 38" id="38"/>
              <p:cNvSpPr/>
              <p:nvPr/>
            </p:nvSpPr>
            <p:spPr>
              <a:xfrm flipH="false" flipV="false" rot="0">
                <a:off x="0" y="0"/>
                <a:ext cx="2428403" cy="1234580"/>
              </a:xfrm>
              <a:custGeom>
                <a:avLst/>
                <a:gdLst/>
                <a:ahLst/>
                <a:cxnLst/>
                <a:rect r="r" b="b" t="t" l="l"/>
                <a:pathLst>
                  <a:path h="1234580" w="2428403">
                    <a:moveTo>
                      <a:pt x="12812" y="0"/>
                    </a:moveTo>
                    <a:lnTo>
                      <a:pt x="2415591" y="0"/>
                    </a:lnTo>
                    <a:cubicBezTo>
                      <a:pt x="2418989" y="0"/>
                      <a:pt x="2422248" y="1350"/>
                      <a:pt x="2424651" y="3753"/>
                    </a:cubicBezTo>
                    <a:cubicBezTo>
                      <a:pt x="2427053" y="6155"/>
                      <a:pt x="2428403" y="9414"/>
                      <a:pt x="2428403" y="12812"/>
                    </a:cubicBezTo>
                    <a:lnTo>
                      <a:pt x="2428403" y="1221768"/>
                    </a:lnTo>
                    <a:cubicBezTo>
                      <a:pt x="2428403" y="1228844"/>
                      <a:pt x="2422667" y="1234580"/>
                      <a:pt x="2415591" y="1234580"/>
                    </a:cubicBezTo>
                    <a:lnTo>
                      <a:pt x="12812" y="1234580"/>
                    </a:lnTo>
                    <a:cubicBezTo>
                      <a:pt x="9414" y="1234580"/>
                      <a:pt x="6155" y="1233231"/>
                      <a:pt x="3753" y="1230828"/>
                    </a:cubicBezTo>
                    <a:cubicBezTo>
                      <a:pt x="1350" y="1228425"/>
                      <a:pt x="0" y="1225166"/>
                      <a:pt x="0" y="1221768"/>
                    </a:cubicBezTo>
                    <a:lnTo>
                      <a:pt x="0" y="12812"/>
                    </a:lnTo>
                    <a:cubicBezTo>
                      <a:pt x="0" y="9414"/>
                      <a:pt x="1350" y="6155"/>
                      <a:pt x="3753" y="3753"/>
                    </a:cubicBezTo>
                    <a:cubicBezTo>
                      <a:pt x="6155" y="1350"/>
                      <a:pt x="9414" y="0"/>
                      <a:pt x="12812" y="0"/>
                    </a:cubicBezTo>
                    <a:close/>
                  </a:path>
                </a:pathLst>
              </a:custGeom>
              <a:solidFill>
                <a:srgbClr val="77E8FF">
                  <a:alpha val="32941"/>
                </a:srgbClr>
              </a:solidFill>
            </p:spPr>
          </p:sp>
          <p:sp>
            <p:nvSpPr>
              <p:cNvPr name="TextBox 39" id="39"/>
              <p:cNvSpPr txBox="true"/>
              <p:nvPr/>
            </p:nvSpPr>
            <p:spPr>
              <a:xfrm>
                <a:off x="0" y="-38100"/>
                <a:ext cx="2428403" cy="1272680"/>
              </a:xfrm>
              <a:prstGeom prst="rect">
                <a:avLst/>
              </a:prstGeom>
            </p:spPr>
            <p:txBody>
              <a:bodyPr anchor="ctr" rtlCol="false" tIns="50800" lIns="50800" bIns="50800" rIns="50800"/>
              <a:lstStyle/>
              <a:p>
                <a:pPr algn="ctr">
                  <a:lnSpc>
                    <a:spcPts val="2659"/>
                  </a:lnSpc>
                </a:pPr>
              </a:p>
            </p:txBody>
          </p:sp>
        </p:grpSp>
      </p:grpSp>
      <p:sp>
        <p:nvSpPr>
          <p:cNvPr name="Freeform 40" id="40"/>
          <p:cNvSpPr/>
          <p:nvPr/>
        </p:nvSpPr>
        <p:spPr>
          <a:xfrm flipH="false" flipV="true" rot="0">
            <a:off x="0" y="0"/>
            <a:ext cx="7590520" cy="3345875"/>
          </a:xfrm>
          <a:custGeom>
            <a:avLst/>
            <a:gdLst/>
            <a:ahLst/>
            <a:cxnLst/>
            <a:rect r="r" b="b" t="t" l="l"/>
            <a:pathLst>
              <a:path h="3345875" w="7590520">
                <a:moveTo>
                  <a:pt x="0" y="3345875"/>
                </a:moveTo>
                <a:lnTo>
                  <a:pt x="7590520" y="3345875"/>
                </a:lnTo>
                <a:lnTo>
                  <a:pt x="7590520" y="0"/>
                </a:lnTo>
                <a:lnTo>
                  <a:pt x="0" y="0"/>
                </a:lnTo>
                <a:lnTo>
                  <a:pt x="0" y="334587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1" id="41"/>
          <p:cNvSpPr/>
          <p:nvPr/>
        </p:nvSpPr>
        <p:spPr>
          <a:xfrm flipH="false" flipV="true" rot="-10800000">
            <a:off x="10697480" y="6941125"/>
            <a:ext cx="7590520" cy="3345875"/>
          </a:xfrm>
          <a:custGeom>
            <a:avLst/>
            <a:gdLst/>
            <a:ahLst/>
            <a:cxnLst/>
            <a:rect r="r" b="b" t="t" l="l"/>
            <a:pathLst>
              <a:path h="3345875" w="7590520">
                <a:moveTo>
                  <a:pt x="0" y="3345875"/>
                </a:moveTo>
                <a:lnTo>
                  <a:pt x="7590520" y="3345875"/>
                </a:lnTo>
                <a:lnTo>
                  <a:pt x="7590520" y="0"/>
                </a:lnTo>
                <a:lnTo>
                  <a:pt x="0" y="0"/>
                </a:lnTo>
                <a:lnTo>
                  <a:pt x="0" y="3345875"/>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2" id="42"/>
          <p:cNvSpPr txBox="true"/>
          <p:nvPr/>
        </p:nvSpPr>
        <p:spPr>
          <a:xfrm rot="0">
            <a:off x="2201086" y="1530063"/>
            <a:ext cx="14318314" cy="1269359"/>
          </a:xfrm>
          <a:prstGeom prst="rect">
            <a:avLst/>
          </a:prstGeom>
        </p:spPr>
        <p:txBody>
          <a:bodyPr anchor="t" rtlCol="false" tIns="0" lIns="0" bIns="0" rIns="0">
            <a:spAutoFit/>
          </a:bodyPr>
          <a:lstStyle/>
          <a:p>
            <a:pPr algn="l" marL="0" indent="0" lvl="0">
              <a:lnSpc>
                <a:spcPts val="10360"/>
              </a:lnSpc>
              <a:spcBef>
                <a:spcPct val="0"/>
              </a:spcBef>
            </a:pPr>
            <a:r>
              <a:rPr lang="en-US" b="true" sz="7400">
                <a:solidFill>
                  <a:srgbClr val="113E7A"/>
                </a:solidFill>
                <a:latin typeface="Muli Ultra-Bold"/>
                <a:ea typeface="Muli Ultra-Bold"/>
                <a:cs typeface="Muli Ultra-Bold"/>
                <a:sym typeface="Muli Ultra-Bold"/>
              </a:rPr>
              <a:t>5. Demo website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DAHVXWJrsdQ</dc:identifier>
  <dcterms:modified xsi:type="dcterms:W3CDTF">2011-08-01T06:04:30Z</dcterms:modified>
  <cp:revision>1</cp:revision>
  <dc:title>KT python</dc:title>
</cp:coreProperties>
</file>